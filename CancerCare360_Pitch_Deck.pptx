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210312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2C3E50"/>
                </a:solidFill>
                <a:latin typeface="Calibri"/>
              </a:defRPr>
            </a:pPr>
            <a:r>
              <a:t>CancerCare 360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Patient Follow-up &amp; Continuity of Care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Keep patients connected across months of care —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surface who needs follow-up before they are lost to care.</a:t>
            </a:r>
          </a:p>
          <a:p>
            <a:pPr algn="l">
              <a:spcAft>
                <a:spcPts val="400"/>
              </a:spcAft>
              <a:defRPr sz="24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90A4AE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pic>
        <p:nvPicPr>
          <p:cNvPr id="44" name="Picture 43" descr="care_network_17897080052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2806995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CURRENT REALITY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Why Patients Fall Through the Cracks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Long-term conditions such as cancer require patients to remain engaged with care over months or years. Yet the systems meant to support them are failing.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9659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965960"/>
            <a:ext cx="76200" cy="1828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Patients Drop Out of Treatment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25146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Many patients miss follow-up appointments, investigations, treatment milestones, or scheduled reviews during their care journey. Without proactive tracking, they silently disappear from the system.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72200" y="19659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1965960"/>
            <a:ext cx="76200" cy="18288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Fragmented Patient Information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25146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Relevant information is scattered across appointment systems, EMRs, laboratory records, treatment registers, spreadsheets, and manual tracking processes — making it impossible to get a unified view.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0233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4023360"/>
            <a:ext cx="76200" cy="1828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206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Manual, Unsustainable Workflows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5720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Doctors and care teams spend considerable time manually identifying patients who need follow-up, prioritising interventions, and coordinating across multiple departments.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72200" y="40233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4023360"/>
            <a:ext cx="76200" cy="18288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46520" y="4206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Breaks Down at Scale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45720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As patient volumes increase, these manual processes become increasingly difficult to sustain, resulting in delayed interventions and widening gaps in continuity of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What We Were Asked to Solve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146304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520" y="1463040"/>
            <a:ext cx="76200" cy="1371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97280" y="16916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1600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Ensure Patients Stay Connected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196596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Design solutions that help healthcare teams ensure patients remain connected throughout their care journey — enabling early identification of patients requiring follow-up and timely interventions before they are lost to care.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301752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31520" y="3017520"/>
            <a:ext cx="76200" cy="13716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37360" y="3154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Improve Visibility &amp; Coordination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2044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Improve visibility across fragmented patient information to support informed decision-making, facilitate coordinated follow-up across doctors and care teams, and simplify follow-up workflows within existing healthcare settings.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457200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1520" y="4572000"/>
            <a:ext cx="76200" cy="1371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97280" y="48006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4709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Reduce Gaps in Care at Scale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507492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Reduce avoidable gaps in care by strengthening continuity of care and patient engagement, enabling healthcare providers to deliver timely, coordinated, and patient-centred follow-up at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CancerCare 360 — End-to-End Continuity 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A full-stack web application tracking every patient from diagnosis to survivorship, automatically detecting who needs follow-up, and closing the loop before anyone is lost to care.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96596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Patient 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Centralized Master Patient Index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8328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83280" y="196596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Longitudinal Journey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Visual timeline diagnosis → survivorship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1965960"/>
            <a:ext cx="36576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1792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Expected Follow-up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Milestones with target vs actual dates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5256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52560" y="1965960"/>
            <a:ext cx="36576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5256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Care Gap Detection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9-scenario automated engine scans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" y="3246120"/>
            <a:ext cx="36576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Priority Task Queue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84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Auto-ranked tasks by criticality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8328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83280" y="324612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8328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4048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Coordinator Tasks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4048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Assigned workflows for care teams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324612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1792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7512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Multi-channel Outreach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7512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Phone, SMS, WhatsApp logging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5256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52560" y="3246120"/>
            <a:ext cx="36576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5256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0976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Barrier Identification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0976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6-category barrier screening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4864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48640" y="4526280"/>
            <a:ext cx="36576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584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Appointment Recovery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84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Closed-loop rebooking &amp; slot recovery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38328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383280" y="4526280"/>
            <a:ext cx="36576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8328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Escalation Workflows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4048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Inter-role clinical handoffs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1792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17920" y="452628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1792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7512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Re-engagement Tracking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7512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status returns to RE_ENGAGED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05256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52560" y="452628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05256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0976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Continuity Analytics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0976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Retention dashboards &amp; SLA reports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FEATURE DEEP DIVE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Patient Registry &amp; Longitudinal Care Journey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463040"/>
            <a:ext cx="5394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463040"/>
            <a:ext cx="539496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9D8F"/>
                </a:solidFill>
                <a:latin typeface="Calibri"/>
              </a:defRPr>
            </a:pPr>
            <a:r>
              <a:t>Patient Registry &amp; 360° Dossier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Master Patient Index with MRN, demographics, cancer staging (TNM), and ABHA ID linking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697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2697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8 Follow-up Continuity Stages: Under Treatment → Under Follow-up → Surveillance → Requiring Investigation → Requiring Review → At-Risk LTFU → Lost to Follow-up → Re-engaged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040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3200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360° Patient Dossier with 6 tabs: Consultation Briefing, Navigation &amp; Barriers, Follow-up Plan, Longitudinal Journey, Investigations, Clinical Documents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79476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" y="3794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Quick metrics: Total Cohort, Under Active Treatment, At-Risk LTFU, Re-engaged counts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4389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search by MRN, Name, Phone with stage-based filtering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983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" y="4983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Register, edit, and manage patient records with full CRUD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26480" y="1463040"/>
            <a:ext cx="5394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26480" y="146304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Longitudinal Care Journey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7512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Visual interactive timeline mapping every patient's cancer pathway from initial staging to survivorship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697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2697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 tracking: Chemo Cycle 1, Post-op Scan, Radiation Planning — each with target vs actual 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320040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3200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Journey Events: Discrete clinical events (biopsy, chemo cycle, radiation fraction, surgery) logged chronologically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379476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75120" y="3794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Protocol Assignment: Link treatment protocols (e.g. AC-T Chemotherapy, NCCN) to each journey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389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7512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 CRUD: Create, edit, delete, and mark milestones complete with clinical notes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983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4983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Automatic gap triggers when milestones are overdue or delayed beyond protocol SLA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HEART OF THE PLATFORM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Automated 9-Scenario Care Gap Detection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Continuously monitors the clinical database to detect patients falling off protocol — before they become lost to follow-up.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828800"/>
            <a:ext cx="7620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Overdue Follow-up Milestones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Chemo cycle, scan, or review date passed without completion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7679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97679" y="1828800"/>
            <a:ext cx="7620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34839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#2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Missed Appointment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6319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missed an appointment and has no future booking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46718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46718" y="1828800"/>
            <a:ext cx="7620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83878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#3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58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Cancelled Without Replacement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58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Appointment cancelled but no replacement slot was booked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8640" y="3108960"/>
            <a:ext cx="7620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#4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Investigation Exceeding SLA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Pending lab/imaging/biopsy result beyond turnaround deadline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97679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97679" y="3108960"/>
            <a:ext cx="7620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34839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#5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19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Unreviewed Report &gt; 48 Hours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19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Diagnostic report ready but not reviewed by oncologist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46718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18" y="3108960"/>
            <a:ext cx="7620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83878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#6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95358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No Future Appointments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95358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Active cancer patient with zero upcoming appointments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8640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48640" y="4389120"/>
            <a:ext cx="7620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#7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7280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Repeated No-Shows (≥ 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missed 2+ consecutive scheduled sessions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297679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97679" y="4389120"/>
            <a:ext cx="7620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34839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#8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46319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Stalled Outreach (≥ 2 failed)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46319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Two or more contact attempts failed, patient unreachable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046718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046718" y="4389120"/>
            <a:ext cx="7620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83878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#9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95358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Extended Inactivity (45+ days)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95358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 clinical touchpoint in over 45 days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CLOSING THE LOOP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Follow-Up Queue, Outreach &amp; Escalation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1325880"/>
            <a:ext cx="365760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Priority Task Queue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Auto-generated from care gap detection engine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Priority badges: CRITICAL, HIGH, MEDIUM, 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Assigned to specific care coordinators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Due date tracking with overdue alerts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6 contextual actions per task: Screen Barrier, Recover Slot, Escalate, Log Outreach, AI Explain, Resolve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486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One-click task resolution and dismissal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624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06240" y="1325880"/>
            <a:ext cx="365760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Multi-Channel Outreach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912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1772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Log every contact attempt: Phone, SMS, WhatsApp, In-person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2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1772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Record outreach outcomes (reached, voicemail, unreachable)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912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1772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Track attempt count per patient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1772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Campaign engine for bulk outreach (screening reminders, chemo guides)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1772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Delivery tracking with audience segmentation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8912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17720" y="5486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Stalled outreach auto-flagged after 2 failed attempts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04672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46720" y="1325880"/>
            <a:ext cx="36576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2960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Escalation &amp; Handoff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5820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Clinical task delegation between Coordinator, Oncology Nurse, Treating Oncologist, Social Worker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5820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Full audit trail with escalation rationale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5820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5-stage Patient Status Board (Clinical Kanban): Gap Detected → Outreach → Barrier → Escalated → Recovered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5820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Toggle between table view and Kanban board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5820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Real-time metrics: Critical Count, Overdue, Due Today, Recovered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NAVIGATION &amp; RECOVERY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Barrier Assessment &amp; Closed-Loop Appointment Recovery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4A261"/>
                </a:solidFill>
                <a:latin typeface="Calibri"/>
              </a:defRPr>
            </a:pPr>
            <a:r>
              <a:t>Barrier Identification &amp; Navigation</a:t>
            </a:r>
          </a:p>
        </p:txBody>
      </p:sp>
      <p:sp>
        <p:nvSpPr>
          <p:cNvPr id="53" name="Oval 52"/>
          <p:cNvSpPr/>
          <p:nvPr/>
        </p:nvSpPr>
        <p:spPr>
          <a:xfrm>
            <a:off x="868680" y="205740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1993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Transportation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" y="2240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Distance, lack of transport, rural isolation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" y="2715768"/>
            <a:ext cx="164592" cy="16459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Financial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289864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Cannot afford treatment, insurance gaps, loss of income</a:t>
            </a:r>
          </a:p>
        </p:txBody>
      </p:sp>
      <p:sp>
        <p:nvSpPr>
          <p:cNvPr id="59" name="Oval 58"/>
          <p:cNvSpPr/>
          <p:nvPr/>
        </p:nvSpPr>
        <p:spPr>
          <a:xfrm>
            <a:off x="868680" y="3374136"/>
            <a:ext cx="164592" cy="164592"/>
          </a:xfrm>
          <a:prstGeom prst="ellipse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3310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Psycho-social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5570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Fear, anxiety, depression, treatment fatigue</a:t>
            </a:r>
          </a:p>
        </p:txBody>
      </p:sp>
      <p:sp>
        <p:nvSpPr>
          <p:cNvPr id="62" name="Oval 61"/>
          <p:cNvSpPr/>
          <p:nvPr/>
        </p:nvSpPr>
        <p:spPr>
          <a:xfrm>
            <a:off x="868680" y="4032504"/>
            <a:ext cx="164592" cy="16459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39684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Family / Caregiver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421538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 caregiver support, family resistance, child care needs</a:t>
            </a:r>
          </a:p>
        </p:txBody>
      </p:sp>
      <p:sp>
        <p:nvSpPr>
          <p:cNvPr id="65" name="Oval 64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4626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Medical / Toxicities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48737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Side effects, comorbidities preventing attendance</a:t>
            </a:r>
          </a:p>
        </p:txBody>
      </p:sp>
      <p:sp>
        <p:nvSpPr>
          <p:cNvPr id="68" name="Oval 67"/>
          <p:cNvSpPr/>
          <p:nvPr/>
        </p:nvSpPr>
        <p:spPr>
          <a:xfrm>
            <a:off x="868680" y="534924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52852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Hospital Bottleneck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" y="5532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Pathology backlog, bed scarcity, radiology queue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2648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Closed-Loop Appointment Recovery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19202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Unlike generic hospital CRMs that merely log calls, CancerCare 360 closes the loop automatically: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400800" y="246888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254203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76F51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0" y="25420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Care gap detected by the 9-scenario engine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00800" y="297180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92240" y="30449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4A261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0" y="30449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Follow-up task created &amp; assigned to coordinator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0" y="347472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354787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32320" y="35478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Outreach logged (phone/SMS/WhatsApp)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397764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92240" y="40507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8B6BC4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32320" y="40507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Barrier identified and screened (if any)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00800" y="448056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92240" y="455371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455371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Replacement appointment booked via Recovery Modal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498348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92240" y="505663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32320" y="50566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status auto-transitions to RE_ENGAGED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00800" y="548640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92240" y="55595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32320" y="55595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Care gap task auto-resolved, barrier auto-closed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SUPPORTING MODULES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Clinical Briefings, SLAs &amp; Document Intelligence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Investigation &amp; SLA Monitoring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19202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Modality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1920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SLA 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2148840"/>
            <a:ext cx="4846320" cy="127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2276856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CBC STAT (Pre-Chemo)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227685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1 Hour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262432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Routine CBC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26243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29718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Serum Creatinine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0" y="2971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31927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Liver Function Panel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0" y="33192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6 Hours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66674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Tumor Markers (CEA/CA-125)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0" y="36667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24 Hours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014216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CT / MRI Staging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01421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48 Hours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436168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PET-CT (18F-FDG)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43616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72 Hours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47091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Pathology IHC (ER/PR/HER2)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0" y="4709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3 Days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505663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Core Biopsy / Histopath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0" y="50566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" y="540410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NGS Genomic Profiling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540410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14 Days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2648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Document Management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192024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Drag-and-drop upload with patient linking &amp; category tagging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2286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22860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Categories: Biopsy, Radiology, Lab Report, Discharge Summary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265176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29400" y="2651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Virus scan status tracking on every uploaded document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301752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29400" y="30175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Clinician verification sign-off workflow (Pending → Verified)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3840480"/>
            <a:ext cx="5394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26480" y="3840480"/>
            <a:ext cx="5394960" cy="762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0" y="4023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AI Clinical Pre-Briefing (§30 Governed)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0800" y="438912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29400" y="43891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AI-generated pre-consultation synthesis before patient encounter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75488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29400" y="4754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Missing investigation alerts, critical lab deltas, active gaps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512064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29400" y="51206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SHA-256 prompt hashing + confidence scoring + mandatory review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29400" y="5486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Non-autonomous guardrails: No auto-diagnosis or auto-staging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00800" y="585216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29400" y="5852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Full audit trail with ACCEPTED/REJECTED/MODIFIED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VISIBILITY &amp; ENGAGEMENT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Continuity Analytics &amp; Patient Portal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9D8F"/>
                </a:solidFill>
                <a:latin typeface="Calibri"/>
              </a:defRPr>
            </a:pPr>
            <a:r>
              <a:t>Continuity Analytics Dashboard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20116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Care Continuity Retention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Treatment completion vs dropout rates across all stages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57860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Follow-Up Stage Breakdown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28072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counts across all 8 continuity stages with percentages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14553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Diagnostic TAT vs SLA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741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Benchmark comparison for CT, MRI, PET, Biopsy with breach warnings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712464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Barrier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Breakdown by category (Financial, Transport, etc.) with resolution rates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427939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Operational Bottlenecks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507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Real-time hospital-side delay log (pathology backlog, bed scarcity)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8463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Practice Growth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074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Monthly new patient intake, referral network performance, NPS scores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54132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Report Generation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5641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Census, Care Gaps Analysis, Investigation TAT exports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2648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Patient Portal — CancerCare Companion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0" y="192024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7960" y="195681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Care Home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2157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Personalised dashboard with treatment roadmap, 24/7 nurse triage helpline, and quick-action tiles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2523744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37960" y="256032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CareCircles (Family Connect)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7960" y="2761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Geo &amp; cancer-matched peer network: connects families in Karad/Satara to exchange dysphagia diets &amp; mutual care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0" y="3127248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37960" y="316382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Appointments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33649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View upcoming appointments, request new bookings, reschedule inquiries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0" y="3730752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37960" y="376732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Treatment Roadmap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37960" y="396849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Simplified visual journey timeline (Completed / In Progress / Upcoming)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334256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37960" y="437083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Reports &amp; Labs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60" y="45720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Secure digital medical records locker with clinician-verified downloads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93776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60" y="497433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Patient Education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7960" y="51755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Multi-lingual library (English, Hindi, Marathi): nutrition, side effects, financial guidance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541264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37960" y="557784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Settings &amp; Privacy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57790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DPDP Act 2023 compliant: notification preferences, ABHA ID, consent revocation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Production-Grade Architecture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11 / 13</a:t>
            </a:r>
          </a:p>
        </p:txBody>
      </p:sp>
      <p:pic>
        <p:nvPicPr>
          <p:cNvPr id="50" name="Picture 49" descr="tech_architecture_17897080401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88720"/>
            <a:ext cx="4572000" cy="4572000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731520" y="144475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156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16093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Next.js 14 (App Router) + TypeScript + Ant Design 5</a:t>
            </a:r>
          </a:p>
        </p:txBody>
      </p:sp>
      <p:sp>
        <p:nvSpPr>
          <p:cNvPr id="54" name="Oval 53"/>
          <p:cNvSpPr/>
          <p:nvPr/>
        </p:nvSpPr>
        <p:spPr>
          <a:xfrm>
            <a:off x="731520" y="206654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197510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Visualisation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223113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ECharts for dashboards, Day.js for temporal data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" y="2688336"/>
            <a:ext cx="182880" cy="1828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25968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State Management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" y="28529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Zustand (global state) + React Query (server sync)</a:t>
            </a:r>
          </a:p>
        </p:txBody>
      </p:sp>
      <p:sp>
        <p:nvSpPr>
          <p:cNvPr id="60" name="Oval 59"/>
          <p:cNvSpPr/>
          <p:nvPr/>
        </p:nvSpPr>
        <p:spPr>
          <a:xfrm>
            <a:off x="731520" y="3310128"/>
            <a:ext cx="182880" cy="182880"/>
          </a:xfrm>
          <a:prstGeom prst="ellipse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32186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3474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NestJS 10 — 32 modular TypeScript services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931920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51560" y="3840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ORM &amp; Database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" y="40965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Prisma ORM + PostgreSQL (41 relational models)</a:t>
            </a:r>
          </a:p>
        </p:txBody>
      </p:sp>
      <p:sp>
        <p:nvSpPr>
          <p:cNvPr id="66" name="Oval 65"/>
          <p:cNvSpPr/>
          <p:nvPr/>
        </p:nvSpPr>
        <p:spPr>
          <a:xfrm>
            <a:off x="731520" y="455371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" y="44622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" y="471830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JWT + Passport.js with RBAC (5 roles)</a:t>
            </a:r>
          </a:p>
        </p:txBody>
      </p:sp>
      <p:sp>
        <p:nvSpPr>
          <p:cNvPr id="69" name="Oval 68"/>
          <p:cNvSpPr/>
          <p:nvPr/>
        </p:nvSpPr>
        <p:spPr>
          <a:xfrm>
            <a:off x="731520" y="517550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1560" y="50840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AI Layer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" y="53400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Section 30 governed clinical decision support</a:t>
            </a:r>
          </a:p>
        </p:txBody>
      </p:sp>
      <p:sp>
        <p:nvSpPr>
          <p:cNvPr id="72" name="Oval 71"/>
          <p:cNvSpPr/>
          <p:nvPr/>
        </p:nvSpPr>
        <p:spPr>
          <a:xfrm>
            <a:off x="731520" y="5797296"/>
            <a:ext cx="182880" cy="1828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1560" y="57058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" y="59618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DPDP Act 2023, FHIR R4, ABDM/ABHA ready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IMPACT &amp; VISION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What CancerCare 360 Delivers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1371600"/>
            <a:ext cx="269748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9D8F"/>
                </a:solidFill>
                <a:latin typeface="Calibri"/>
              </a:defRPr>
            </a:pPr>
            <a:r>
              <a:t>Zero Patients Lost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9D8F"/>
                </a:solidFill>
                <a:latin typeface="Calibri"/>
              </a:defRPr>
            </a:pPr>
            <a:r>
              <a:t>to Follow-Up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9-scenario automated detection + closed-loop recovery ensures every patient stays on their treatment path.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37560" y="1371600"/>
            <a:ext cx="269748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2900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4A261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900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4A261"/>
                </a:solidFill>
                <a:latin typeface="Calibri"/>
              </a:defRPr>
            </a:pPr>
            <a:r>
              <a:t>SLA Monitoring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2900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Investigation turnaround tracked from 1-hour CBC to 14-day NGS. Breaches flagged instantly.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1371600"/>
            <a:ext cx="269748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57B9D"/>
                </a:solidFill>
                <a:latin typeface="Calibri"/>
              </a:defRPr>
            </a:pPr>
            <a:r>
              <a:t>Unified Care 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57B9D"/>
                </a:solidFill>
                <a:latin typeface="Calibri"/>
              </a:defRPr>
            </a:pPr>
            <a:r>
              <a:t>Collaboration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Oncologists, coordinators, navigators share one longitudinal 360° view — eliminating silos.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1371600"/>
            <a:ext cx="2697480" cy="762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8B6BC4"/>
                </a:solidFill>
                <a:latin typeface="Calibri"/>
              </a:defRPr>
            </a:pPr>
            <a:r>
              <a:t>Timely, Coordinated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972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8B6BC4"/>
                </a:solidFill>
                <a:latin typeface="Calibri"/>
              </a:defRPr>
            </a:pPr>
            <a:r>
              <a:t>Follow-Up at Scale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972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Automated workflows replace manual tracking. Scales from 100 to 10,000+ patients.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03320"/>
            <a:ext cx="11247120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Platform by the Numbers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28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28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Backend Modules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457B9D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Database Models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4A261"/>
                </a:solidFill>
                <a:latin typeface="Calibri"/>
              </a:defRPr>
            </a:pPr>
            <a:r>
              <a:t>22+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Staff Pages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8B6BC4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86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Portal Pages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8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76F51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Care Gap Scenarios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10+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Investigation Modalities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457B9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Languages Supported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4A261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User Roles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gap_detection_17897080286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114800" cy="4114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371600" y="2286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2A9D8F"/>
                </a:solidFill>
                <a:latin typeface="Calibri"/>
              </a:defRPr>
            </a:pPr>
            <a:r>
              <a:t>"Because no cancer patient should fall through the cracks."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2C3E5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