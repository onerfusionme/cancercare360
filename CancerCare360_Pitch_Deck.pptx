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xagon 1"/>
          <p:cNvSpPr/>
          <p:nvPr/>
        </p:nvSpPr>
        <p:spPr>
          <a:xfrm>
            <a:off x="8686800" y="-45720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exagon 2"/>
          <p:cNvSpPr/>
          <p:nvPr/>
        </p:nvSpPr>
        <p:spPr>
          <a:xfrm>
            <a:off x="8686800" y="24231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xagon 3"/>
          <p:cNvSpPr/>
          <p:nvPr/>
        </p:nvSpPr>
        <p:spPr>
          <a:xfrm>
            <a:off x="8686800" y="94183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Hexagon 4"/>
          <p:cNvSpPr/>
          <p:nvPr/>
        </p:nvSpPr>
        <p:spPr>
          <a:xfrm>
            <a:off x="8686800" y="164134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Hexagon 5"/>
          <p:cNvSpPr/>
          <p:nvPr/>
        </p:nvSpPr>
        <p:spPr>
          <a:xfrm>
            <a:off x="8686800" y="234086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exagon 6"/>
          <p:cNvSpPr/>
          <p:nvPr/>
        </p:nvSpPr>
        <p:spPr>
          <a:xfrm>
            <a:off x="8686800" y="304037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exagon 7"/>
          <p:cNvSpPr/>
          <p:nvPr/>
        </p:nvSpPr>
        <p:spPr>
          <a:xfrm>
            <a:off x="8686800" y="37398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Hexagon 8"/>
          <p:cNvSpPr/>
          <p:nvPr/>
        </p:nvSpPr>
        <p:spPr>
          <a:xfrm>
            <a:off x="8686800" y="44394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Hexagon 9"/>
          <p:cNvSpPr/>
          <p:nvPr/>
        </p:nvSpPr>
        <p:spPr>
          <a:xfrm>
            <a:off x="9235440" y="-4571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exagon 10"/>
          <p:cNvSpPr/>
          <p:nvPr/>
        </p:nvSpPr>
        <p:spPr>
          <a:xfrm>
            <a:off x="9235440" y="6537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Hexagon 11"/>
          <p:cNvSpPr/>
          <p:nvPr/>
        </p:nvSpPr>
        <p:spPr>
          <a:xfrm>
            <a:off x="9235440" y="13533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Hexagon 12"/>
          <p:cNvSpPr/>
          <p:nvPr/>
        </p:nvSpPr>
        <p:spPr>
          <a:xfrm>
            <a:off x="9235440" y="205282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Hexagon 13"/>
          <p:cNvSpPr/>
          <p:nvPr/>
        </p:nvSpPr>
        <p:spPr>
          <a:xfrm>
            <a:off x="9235440" y="275234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Hexagon 14"/>
          <p:cNvSpPr/>
          <p:nvPr/>
        </p:nvSpPr>
        <p:spPr>
          <a:xfrm>
            <a:off x="9235440" y="345186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Hexagon 15"/>
          <p:cNvSpPr/>
          <p:nvPr/>
        </p:nvSpPr>
        <p:spPr>
          <a:xfrm>
            <a:off x="9235440" y="415137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Hexagon 16"/>
          <p:cNvSpPr/>
          <p:nvPr/>
        </p:nvSpPr>
        <p:spPr>
          <a:xfrm>
            <a:off x="9235440" y="485089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exagon 17"/>
          <p:cNvSpPr/>
          <p:nvPr/>
        </p:nvSpPr>
        <p:spPr>
          <a:xfrm>
            <a:off x="9784080" y="-45720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Hexagon 18"/>
          <p:cNvSpPr/>
          <p:nvPr/>
        </p:nvSpPr>
        <p:spPr>
          <a:xfrm>
            <a:off x="9784080" y="24231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Hexagon 19"/>
          <p:cNvSpPr/>
          <p:nvPr/>
        </p:nvSpPr>
        <p:spPr>
          <a:xfrm>
            <a:off x="9784080" y="94183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Hexagon 20"/>
          <p:cNvSpPr/>
          <p:nvPr/>
        </p:nvSpPr>
        <p:spPr>
          <a:xfrm>
            <a:off x="9784080" y="164134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Hexagon 21"/>
          <p:cNvSpPr/>
          <p:nvPr/>
        </p:nvSpPr>
        <p:spPr>
          <a:xfrm>
            <a:off x="9784080" y="234086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Hexagon 22"/>
          <p:cNvSpPr/>
          <p:nvPr/>
        </p:nvSpPr>
        <p:spPr>
          <a:xfrm>
            <a:off x="9784080" y="304037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Hexagon 23"/>
          <p:cNvSpPr/>
          <p:nvPr/>
        </p:nvSpPr>
        <p:spPr>
          <a:xfrm>
            <a:off x="9784080" y="37398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Hexagon 24"/>
          <p:cNvSpPr/>
          <p:nvPr/>
        </p:nvSpPr>
        <p:spPr>
          <a:xfrm>
            <a:off x="9784080" y="44394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Hexagon 25"/>
          <p:cNvSpPr/>
          <p:nvPr/>
        </p:nvSpPr>
        <p:spPr>
          <a:xfrm>
            <a:off x="10332720" y="-4571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Hexagon 26"/>
          <p:cNvSpPr/>
          <p:nvPr/>
        </p:nvSpPr>
        <p:spPr>
          <a:xfrm>
            <a:off x="10332720" y="6537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Hexagon 27"/>
          <p:cNvSpPr/>
          <p:nvPr/>
        </p:nvSpPr>
        <p:spPr>
          <a:xfrm>
            <a:off x="10332720" y="13533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Hexagon 28"/>
          <p:cNvSpPr/>
          <p:nvPr/>
        </p:nvSpPr>
        <p:spPr>
          <a:xfrm>
            <a:off x="10332720" y="205282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Hexagon 29"/>
          <p:cNvSpPr/>
          <p:nvPr/>
        </p:nvSpPr>
        <p:spPr>
          <a:xfrm>
            <a:off x="10332720" y="275234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Hexagon 30"/>
          <p:cNvSpPr/>
          <p:nvPr/>
        </p:nvSpPr>
        <p:spPr>
          <a:xfrm>
            <a:off x="10332720" y="345186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Hexagon 31"/>
          <p:cNvSpPr/>
          <p:nvPr/>
        </p:nvSpPr>
        <p:spPr>
          <a:xfrm>
            <a:off x="10332720" y="415137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Hexagon 32"/>
          <p:cNvSpPr/>
          <p:nvPr/>
        </p:nvSpPr>
        <p:spPr>
          <a:xfrm>
            <a:off x="10332720" y="485089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Hexagon 33"/>
          <p:cNvSpPr/>
          <p:nvPr/>
        </p:nvSpPr>
        <p:spPr>
          <a:xfrm>
            <a:off x="10881360" y="-45720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Hexagon 34"/>
          <p:cNvSpPr/>
          <p:nvPr/>
        </p:nvSpPr>
        <p:spPr>
          <a:xfrm>
            <a:off x="10881360" y="24231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Hexagon 35"/>
          <p:cNvSpPr/>
          <p:nvPr/>
        </p:nvSpPr>
        <p:spPr>
          <a:xfrm>
            <a:off x="10881360" y="94183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Hexagon 36"/>
          <p:cNvSpPr/>
          <p:nvPr/>
        </p:nvSpPr>
        <p:spPr>
          <a:xfrm>
            <a:off x="10881360" y="164134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Hexagon 37"/>
          <p:cNvSpPr/>
          <p:nvPr/>
        </p:nvSpPr>
        <p:spPr>
          <a:xfrm>
            <a:off x="10881360" y="234086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Hexagon 38"/>
          <p:cNvSpPr/>
          <p:nvPr/>
        </p:nvSpPr>
        <p:spPr>
          <a:xfrm>
            <a:off x="10881360" y="304037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Hexagon 39"/>
          <p:cNvSpPr/>
          <p:nvPr/>
        </p:nvSpPr>
        <p:spPr>
          <a:xfrm>
            <a:off x="10881360" y="37398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Hexagon 40"/>
          <p:cNvSpPr/>
          <p:nvPr/>
        </p:nvSpPr>
        <p:spPr>
          <a:xfrm>
            <a:off x="10881360" y="44394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520" y="2103120"/>
            <a:ext cx="5943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4800" b="1">
                <a:solidFill>
                  <a:srgbClr val="2C3E50"/>
                </a:solidFill>
                <a:latin typeface="Calibri"/>
              </a:defRPr>
            </a:pPr>
            <a:r>
              <a:t>CancerCare 360</a:t>
            </a:r>
          </a:p>
          <a:p>
            <a:pPr algn="l">
              <a:spcAft>
                <a:spcPts val="400"/>
              </a:spcAft>
              <a:defRPr sz="600" b="0">
                <a:solidFill>
                  <a:srgbClr val="2C3E50"/>
                </a:solidFill>
                <a:latin typeface="Calibri"/>
              </a:defRPr>
            </a:pPr>
          </a:p>
          <a:p>
            <a:pPr algn="l">
              <a:spcAft>
                <a:spcPts val="400"/>
              </a:spcAft>
              <a:defRPr sz="2400" b="1">
                <a:solidFill>
                  <a:srgbClr val="2A9D8F"/>
                </a:solidFill>
                <a:latin typeface="Calibri"/>
              </a:defRPr>
            </a:pPr>
            <a:r>
              <a:t>Patient Follow-up &amp; Continuity of Care</a:t>
            </a:r>
          </a:p>
          <a:p>
            <a:pPr algn="l">
              <a:spcAft>
                <a:spcPts val="400"/>
              </a:spcAft>
              <a:defRPr sz="600" b="0">
                <a:solidFill>
                  <a:srgbClr val="2C3E50"/>
                </a:solidFill>
                <a:latin typeface="Calibri"/>
              </a:defRPr>
            </a:pPr>
          </a:p>
          <a:p>
            <a:pPr algn="l">
              <a:spcAft>
                <a:spcPts val="400"/>
              </a:spcAft>
              <a:defRPr sz="1600" b="0">
                <a:solidFill>
                  <a:srgbClr val="546E7A"/>
                </a:solidFill>
                <a:latin typeface="Calibri"/>
              </a:defRPr>
            </a:pPr>
            <a:r>
              <a:t>Keep patients connected across months of care —</a:t>
            </a:r>
          </a:p>
          <a:p>
            <a:pPr algn="l">
              <a:spcAft>
                <a:spcPts val="400"/>
              </a:spcAft>
              <a:defRPr sz="1600" b="0">
                <a:solidFill>
                  <a:srgbClr val="546E7A"/>
                </a:solidFill>
                <a:latin typeface="Calibri"/>
              </a:defRPr>
            </a:pPr>
            <a:r>
              <a:t>surface who needs follow-up before they are lost to care.</a:t>
            </a:r>
          </a:p>
          <a:p>
            <a:pPr algn="l">
              <a:spcAft>
                <a:spcPts val="400"/>
              </a:spcAft>
              <a:defRPr sz="2400" b="0">
                <a:solidFill>
                  <a:srgbClr val="2C3E50"/>
                </a:solidFill>
                <a:latin typeface="Calibri"/>
              </a:defRPr>
            </a:pPr>
          </a:p>
          <a:p>
            <a:pPr algn="l">
              <a:spcAft>
                <a:spcPts val="400"/>
              </a:spcAft>
              <a:defRPr sz="1600" b="1">
                <a:solidFill>
                  <a:srgbClr val="90A4AE"/>
                </a:solidFill>
                <a:latin typeface="Calibri"/>
              </a:defRPr>
            </a:pPr>
            <a:r>
              <a:t>Mr. Mayur More  |  Team Krishna</a:t>
            </a:r>
          </a:p>
        </p:txBody>
      </p:sp>
      <p:pic>
        <p:nvPicPr>
          <p:cNvPr id="44" name="Picture 43" descr="care_network_178970800526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371600"/>
            <a:ext cx="5029200" cy="2806995"/>
          </a:xfrm>
          <a:prstGeom prst="rect">
            <a:avLst/>
          </a:prstGeom>
        </p:spPr>
      </p:pic>
      <p:sp>
        <p:nvSpPr>
          <p:cNvPr id="45" name="Rectangle 4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4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31520" y="651052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546E7A"/>
                </a:solidFill>
                <a:latin typeface="Calibri"/>
              </a:defRPr>
            </a:pPr>
            <a:r>
              <a:t>Mr. Mayur More  |  Team Krishna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14800" y="6510528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0A4AE"/>
                </a:solidFill>
                <a:latin typeface="Calibri"/>
              </a:defRPr>
            </a:pPr>
            <a:r>
              <a:t>CancerCare 360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15600" y="651052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100" b="0">
                <a:solidFill>
                  <a:srgbClr val="90A4AE"/>
                </a:solidFill>
                <a:latin typeface="Calibri"/>
              </a:defRPr>
            </a:pPr>
            <a:r>
              <a:t>1 / 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xagon 1"/>
          <p:cNvSpPr/>
          <p:nvPr/>
        </p:nvSpPr>
        <p:spPr>
          <a:xfrm>
            <a:off x="8686800" y="-45720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exagon 2"/>
          <p:cNvSpPr/>
          <p:nvPr/>
        </p:nvSpPr>
        <p:spPr>
          <a:xfrm>
            <a:off x="8686800" y="24231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xagon 3"/>
          <p:cNvSpPr/>
          <p:nvPr/>
        </p:nvSpPr>
        <p:spPr>
          <a:xfrm>
            <a:off x="8686800" y="94183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Hexagon 4"/>
          <p:cNvSpPr/>
          <p:nvPr/>
        </p:nvSpPr>
        <p:spPr>
          <a:xfrm>
            <a:off x="8686800" y="164134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Hexagon 5"/>
          <p:cNvSpPr/>
          <p:nvPr/>
        </p:nvSpPr>
        <p:spPr>
          <a:xfrm>
            <a:off x="8686800" y="234086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exagon 6"/>
          <p:cNvSpPr/>
          <p:nvPr/>
        </p:nvSpPr>
        <p:spPr>
          <a:xfrm>
            <a:off x="8686800" y="304037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exagon 7"/>
          <p:cNvSpPr/>
          <p:nvPr/>
        </p:nvSpPr>
        <p:spPr>
          <a:xfrm>
            <a:off x="8686800" y="37398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Hexagon 8"/>
          <p:cNvSpPr/>
          <p:nvPr/>
        </p:nvSpPr>
        <p:spPr>
          <a:xfrm>
            <a:off x="8686800" y="44394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Hexagon 9"/>
          <p:cNvSpPr/>
          <p:nvPr/>
        </p:nvSpPr>
        <p:spPr>
          <a:xfrm>
            <a:off x="9235440" y="-4571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exagon 10"/>
          <p:cNvSpPr/>
          <p:nvPr/>
        </p:nvSpPr>
        <p:spPr>
          <a:xfrm>
            <a:off x="9235440" y="6537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Hexagon 11"/>
          <p:cNvSpPr/>
          <p:nvPr/>
        </p:nvSpPr>
        <p:spPr>
          <a:xfrm>
            <a:off x="9235440" y="13533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Hexagon 12"/>
          <p:cNvSpPr/>
          <p:nvPr/>
        </p:nvSpPr>
        <p:spPr>
          <a:xfrm>
            <a:off x="9235440" y="205282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Hexagon 13"/>
          <p:cNvSpPr/>
          <p:nvPr/>
        </p:nvSpPr>
        <p:spPr>
          <a:xfrm>
            <a:off x="9235440" y="275234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Hexagon 14"/>
          <p:cNvSpPr/>
          <p:nvPr/>
        </p:nvSpPr>
        <p:spPr>
          <a:xfrm>
            <a:off x="9235440" y="345186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Hexagon 15"/>
          <p:cNvSpPr/>
          <p:nvPr/>
        </p:nvSpPr>
        <p:spPr>
          <a:xfrm>
            <a:off x="9235440" y="415137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Hexagon 16"/>
          <p:cNvSpPr/>
          <p:nvPr/>
        </p:nvSpPr>
        <p:spPr>
          <a:xfrm>
            <a:off x="9235440" y="485089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exagon 17"/>
          <p:cNvSpPr/>
          <p:nvPr/>
        </p:nvSpPr>
        <p:spPr>
          <a:xfrm>
            <a:off x="9784080" y="-45720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Hexagon 18"/>
          <p:cNvSpPr/>
          <p:nvPr/>
        </p:nvSpPr>
        <p:spPr>
          <a:xfrm>
            <a:off x="9784080" y="24231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Hexagon 19"/>
          <p:cNvSpPr/>
          <p:nvPr/>
        </p:nvSpPr>
        <p:spPr>
          <a:xfrm>
            <a:off x="9784080" y="94183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Hexagon 20"/>
          <p:cNvSpPr/>
          <p:nvPr/>
        </p:nvSpPr>
        <p:spPr>
          <a:xfrm>
            <a:off x="9784080" y="164134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Hexagon 21"/>
          <p:cNvSpPr/>
          <p:nvPr/>
        </p:nvSpPr>
        <p:spPr>
          <a:xfrm>
            <a:off x="9784080" y="234086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Hexagon 22"/>
          <p:cNvSpPr/>
          <p:nvPr/>
        </p:nvSpPr>
        <p:spPr>
          <a:xfrm>
            <a:off x="9784080" y="304037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Hexagon 23"/>
          <p:cNvSpPr/>
          <p:nvPr/>
        </p:nvSpPr>
        <p:spPr>
          <a:xfrm>
            <a:off x="9784080" y="37398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Hexagon 24"/>
          <p:cNvSpPr/>
          <p:nvPr/>
        </p:nvSpPr>
        <p:spPr>
          <a:xfrm>
            <a:off x="9784080" y="44394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Hexagon 25"/>
          <p:cNvSpPr/>
          <p:nvPr/>
        </p:nvSpPr>
        <p:spPr>
          <a:xfrm>
            <a:off x="10332720" y="-4571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Hexagon 26"/>
          <p:cNvSpPr/>
          <p:nvPr/>
        </p:nvSpPr>
        <p:spPr>
          <a:xfrm>
            <a:off x="10332720" y="6537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Hexagon 27"/>
          <p:cNvSpPr/>
          <p:nvPr/>
        </p:nvSpPr>
        <p:spPr>
          <a:xfrm>
            <a:off x="10332720" y="13533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Hexagon 28"/>
          <p:cNvSpPr/>
          <p:nvPr/>
        </p:nvSpPr>
        <p:spPr>
          <a:xfrm>
            <a:off x="10332720" y="205282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Hexagon 29"/>
          <p:cNvSpPr/>
          <p:nvPr/>
        </p:nvSpPr>
        <p:spPr>
          <a:xfrm>
            <a:off x="10332720" y="275234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Hexagon 30"/>
          <p:cNvSpPr/>
          <p:nvPr/>
        </p:nvSpPr>
        <p:spPr>
          <a:xfrm>
            <a:off x="10332720" y="345186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Hexagon 31"/>
          <p:cNvSpPr/>
          <p:nvPr/>
        </p:nvSpPr>
        <p:spPr>
          <a:xfrm>
            <a:off x="10332720" y="415137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Hexagon 32"/>
          <p:cNvSpPr/>
          <p:nvPr/>
        </p:nvSpPr>
        <p:spPr>
          <a:xfrm>
            <a:off x="10332720" y="485089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Hexagon 33"/>
          <p:cNvSpPr/>
          <p:nvPr/>
        </p:nvSpPr>
        <p:spPr>
          <a:xfrm>
            <a:off x="10881360" y="-45720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Hexagon 34"/>
          <p:cNvSpPr/>
          <p:nvPr/>
        </p:nvSpPr>
        <p:spPr>
          <a:xfrm>
            <a:off x="10881360" y="24231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Hexagon 35"/>
          <p:cNvSpPr/>
          <p:nvPr/>
        </p:nvSpPr>
        <p:spPr>
          <a:xfrm>
            <a:off x="10881360" y="94183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Hexagon 36"/>
          <p:cNvSpPr/>
          <p:nvPr/>
        </p:nvSpPr>
        <p:spPr>
          <a:xfrm>
            <a:off x="10881360" y="164134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Hexagon 37"/>
          <p:cNvSpPr/>
          <p:nvPr/>
        </p:nvSpPr>
        <p:spPr>
          <a:xfrm>
            <a:off x="10881360" y="234086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Hexagon 38"/>
          <p:cNvSpPr/>
          <p:nvPr/>
        </p:nvSpPr>
        <p:spPr>
          <a:xfrm>
            <a:off x="10881360" y="304037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Hexagon 39"/>
          <p:cNvSpPr/>
          <p:nvPr/>
        </p:nvSpPr>
        <p:spPr>
          <a:xfrm>
            <a:off x="10881360" y="37398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Hexagon 40"/>
          <p:cNvSpPr/>
          <p:nvPr/>
        </p:nvSpPr>
        <p:spPr>
          <a:xfrm>
            <a:off x="10881360" y="44394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1520" y="320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2A9D8F"/>
                </a:solidFill>
                <a:latin typeface="Calibri"/>
              </a:defRPr>
            </a:pPr>
            <a:r>
              <a:t>THE CURRENT REALITY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31520" y="640080"/>
            <a:ext cx="731520" cy="381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7772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600" b="1">
                <a:solidFill>
                  <a:srgbClr val="2C3E50"/>
                </a:solidFill>
                <a:latin typeface="Calibri"/>
              </a:defRPr>
            </a:pPr>
            <a:r>
              <a:t>Why Patients Fall Through the Cracks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4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31520" y="651052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546E7A"/>
                </a:solidFill>
                <a:latin typeface="Calibri"/>
              </a:defRPr>
            </a:pPr>
            <a:r>
              <a:t>Mr. Mayur More  |  Team Krishna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14800" y="6510528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0A4AE"/>
                </a:solidFill>
                <a:latin typeface="Calibri"/>
              </a:defRPr>
            </a:pPr>
            <a:r>
              <a:t>CancerCare 360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15600" y="651052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100" b="0">
                <a:solidFill>
                  <a:srgbClr val="90A4AE"/>
                </a:solidFill>
                <a:latin typeface="Calibri"/>
              </a:defRPr>
            </a:pPr>
            <a:r>
              <a:t>2 / 13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" y="1371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546E7A"/>
                </a:solidFill>
                <a:latin typeface="Calibri"/>
              </a:defRPr>
            </a:pPr>
            <a:r>
              <a:t>Long-term conditions such as cancer require patients to remain engaged with care over months or years. Yet the systems meant to support them are failing.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48640" y="1965960"/>
            <a:ext cx="539496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48640" y="1965960"/>
            <a:ext cx="76200" cy="1828800"/>
          </a:xfrm>
          <a:prstGeom prst="rect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22960" y="214884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E76F51"/>
                </a:solidFill>
                <a:latin typeface="Calibri"/>
              </a:defRPr>
            </a:pPr>
            <a:r>
              <a:t>Patients Drop Out of Treatment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2960" y="2514600"/>
            <a:ext cx="4846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546E7A"/>
                </a:solidFill>
                <a:latin typeface="Calibri"/>
              </a:defRPr>
            </a:pPr>
            <a:r>
              <a:t>Many patients miss follow-up appointments, investigations, treatment milestones, or scheduled reviews during their care journey. Without proactive tracking, they silently disappear from the system.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172200" y="1965960"/>
            <a:ext cx="539496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172200" y="1965960"/>
            <a:ext cx="76200" cy="1828800"/>
          </a:xfrm>
          <a:prstGeom prst="rect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46520" y="214884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457B9D"/>
                </a:solidFill>
                <a:latin typeface="Calibri"/>
              </a:defRPr>
            </a:pPr>
            <a:r>
              <a:t>Fragmented Patient Information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46520" y="2514600"/>
            <a:ext cx="4846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546E7A"/>
                </a:solidFill>
                <a:latin typeface="Calibri"/>
              </a:defRPr>
            </a:pPr>
            <a:r>
              <a:t>Relevant information is scattered across appointment systems, EMRs, laboratory records, treatment registers, spreadsheets, and manual tracking processes — making it impossible to get a unified view.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48640" y="4023360"/>
            <a:ext cx="539496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48640" y="4023360"/>
            <a:ext cx="76200" cy="18288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22960" y="420624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F4A261"/>
                </a:solidFill>
                <a:latin typeface="Calibri"/>
              </a:defRPr>
            </a:pPr>
            <a:r>
              <a:t>Manual, Unsustainable Workflows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2960" y="4572000"/>
            <a:ext cx="4846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546E7A"/>
                </a:solidFill>
                <a:latin typeface="Calibri"/>
              </a:defRPr>
            </a:pPr>
            <a:r>
              <a:t>Doctors and care teams spend considerable time manually identifying patients who need follow-up, prioritising interventions, and coordinating across multiple departments.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172200" y="4023360"/>
            <a:ext cx="539496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172200" y="4023360"/>
            <a:ext cx="76200" cy="1828800"/>
          </a:xfrm>
          <a:prstGeom prst="rect">
            <a:avLst/>
          </a:prstGeom>
          <a:solidFill>
            <a:srgbClr val="8B6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446520" y="420624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8B6BC4"/>
                </a:solidFill>
                <a:latin typeface="Calibri"/>
              </a:defRPr>
            </a:pPr>
            <a:r>
              <a:t>Breaks Down at Scale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46520" y="4572000"/>
            <a:ext cx="4846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546E7A"/>
                </a:solidFill>
                <a:latin typeface="Calibri"/>
              </a:defRPr>
            </a:pPr>
            <a:r>
              <a:t>As patient volumes increase, these manual processes become increasingly difficult to sustain, resulting in delayed interventions and widening gaps in continuity of care.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xagon 1"/>
          <p:cNvSpPr/>
          <p:nvPr/>
        </p:nvSpPr>
        <p:spPr>
          <a:xfrm>
            <a:off x="8686800" y="-45720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exagon 2"/>
          <p:cNvSpPr/>
          <p:nvPr/>
        </p:nvSpPr>
        <p:spPr>
          <a:xfrm>
            <a:off x="8686800" y="24231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xagon 3"/>
          <p:cNvSpPr/>
          <p:nvPr/>
        </p:nvSpPr>
        <p:spPr>
          <a:xfrm>
            <a:off x="8686800" y="94183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Hexagon 4"/>
          <p:cNvSpPr/>
          <p:nvPr/>
        </p:nvSpPr>
        <p:spPr>
          <a:xfrm>
            <a:off x="8686800" y="164134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Hexagon 5"/>
          <p:cNvSpPr/>
          <p:nvPr/>
        </p:nvSpPr>
        <p:spPr>
          <a:xfrm>
            <a:off x="8686800" y="234086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exagon 6"/>
          <p:cNvSpPr/>
          <p:nvPr/>
        </p:nvSpPr>
        <p:spPr>
          <a:xfrm>
            <a:off x="8686800" y="304037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exagon 7"/>
          <p:cNvSpPr/>
          <p:nvPr/>
        </p:nvSpPr>
        <p:spPr>
          <a:xfrm>
            <a:off x="8686800" y="37398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Hexagon 8"/>
          <p:cNvSpPr/>
          <p:nvPr/>
        </p:nvSpPr>
        <p:spPr>
          <a:xfrm>
            <a:off x="8686800" y="44394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Hexagon 9"/>
          <p:cNvSpPr/>
          <p:nvPr/>
        </p:nvSpPr>
        <p:spPr>
          <a:xfrm>
            <a:off x="9235440" y="-4571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exagon 10"/>
          <p:cNvSpPr/>
          <p:nvPr/>
        </p:nvSpPr>
        <p:spPr>
          <a:xfrm>
            <a:off x="9235440" y="6537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Hexagon 11"/>
          <p:cNvSpPr/>
          <p:nvPr/>
        </p:nvSpPr>
        <p:spPr>
          <a:xfrm>
            <a:off x="9235440" y="13533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Hexagon 12"/>
          <p:cNvSpPr/>
          <p:nvPr/>
        </p:nvSpPr>
        <p:spPr>
          <a:xfrm>
            <a:off x="9235440" y="205282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Hexagon 13"/>
          <p:cNvSpPr/>
          <p:nvPr/>
        </p:nvSpPr>
        <p:spPr>
          <a:xfrm>
            <a:off x="9235440" y="275234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Hexagon 14"/>
          <p:cNvSpPr/>
          <p:nvPr/>
        </p:nvSpPr>
        <p:spPr>
          <a:xfrm>
            <a:off x="9235440" y="345186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Hexagon 15"/>
          <p:cNvSpPr/>
          <p:nvPr/>
        </p:nvSpPr>
        <p:spPr>
          <a:xfrm>
            <a:off x="9235440" y="415137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Hexagon 16"/>
          <p:cNvSpPr/>
          <p:nvPr/>
        </p:nvSpPr>
        <p:spPr>
          <a:xfrm>
            <a:off x="9235440" y="485089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exagon 17"/>
          <p:cNvSpPr/>
          <p:nvPr/>
        </p:nvSpPr>
        <p:spPr>
          <a:xfrm>
            <a:off x="9784080" y="-45720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Hexagon 18"/>
          <p:cNvSpPr/>
          <p:nvPr/>
        </p:nvSpPr>
        <p:spPr>
          <a:xfrm>
            <a:off x="9784080" y="24231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Hexagon 19"/>
          <p:cNvSpPr/>
          <p:nvPr/>
        </p:nvSpPr>
        <p:spPr>
          <a:xfrm>
            <a:off x="9784080" y="94183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Hexagon 20"/>
          <p:cNvSpPr/>
          <p:nvPr/>
        </p:nvSpPr>
        <p:spPr>
          <a:xfrm>
            <a:off x="9784080" y="164134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Hexagon 21"/>
          <p:cNvSpPr/>
          <p:nvPr/>
        </p:nvSpPr>
        <p:spPr>
          <a:xfrm>
            <a:off x="9784080" y="234086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Hexagon 22"/>
          <p:cNvSpPr/>
          <p:nvPr/>
        </p:nvSpPr>
        <p:spPr>
          <a:xfrm>
            <a:off x="9784080" y="304037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Hexagon 23"/>
          <p:cNvSpPr/>
          <p:nvPr/>
        </p:nvSpPr>
        <p:spPr>
          <a:xfrm>
            <a:off x="9784080" y="37398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Hexagon 24"/>
          <p:cNvSpPr/>
          <p:nvPr/>
        </p:nvSpPr>
        <p:spPr>
          <a:xfrm>
            <a:off x="9784080" y="44394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Hexagon 25"/>
          <p:cNvSpPr/>
          <p:nvPr/>
        </p:nvSpPr>
        <p:spPr>
          <a:xfrm>
            <a:off x="10332720" y="-4571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Hexagon 26"/>
          <p:cNvSpPr/>
          <p:nvPr/>
        </p:nvSpPr>
        <p:spPr>
          <a:xfrm>
            <a:off x="10332720" y="6537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Hexagon 27"/>
          <p:cNvSpPr/>
          <p:nvPr/>
        </p:nvSpPr>
        <p:spPr>
          <a:xfrm>
            <a:off x="10332720" y="13533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Hexagon 28"/>
          <p:cNvSpPr/>
          <p:nvPr/>
        </p:nvSpPr>
        <p:spPr>
          <a:xfrm>
            <a:off x="10332720" y="205282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Hexagon 29"/>
          <p:cNvSpPr/>
          <p:nvPr/>
        </p:nvSpPr>
        <p:spPr>
          <a:xfrm>
            <a:off x="10332720" y="275234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Hexagon 30"/>
          <p:cNvSpPr/>
          <p:nvPr/>
        </p:nvSpPr>
        <p:spPr>
          <a:xfrm>
            <a:off x="10332720" y="345186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Hexagon 31"/>
          <p:cNvSpPr/>
          <p:nvPr/>
        </p:nvSpPr>
        <p:spPr>
          <a:xfrm>
            <a:off x="10332720" y="415137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Hexagon 32"/>
          <p:cNvSpPr/>
          <p:nvPr/>
        </p:nvSpPr>
        <p:spPr>
          <a:xfrm>
            <a:off x="10332720" y="485089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Hexagon 33"/>
          <p:cNvSpPr/>
          <p:nvPr/>
        </p:nvSpPr>
        <p:spPr>
          <a:xfrm>
            <a:off x="10881360" y="-45720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Hexagon 34"/>
          <p:cNvSpPr/>
          <p:nvPr/>
        </p:nvSpPr>
        <p:spPr>
          <a:xfrm>
            <a:off x="10881360" y="24231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Hexagon 35"/>
          <p:cNvSpPr/>
          <p:nvPr/>
        </p:nvSpPr>
        <p:spPr>
          <a:xfrm>
            <a:off x="10881360" y="94183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Hexagon 36"/>
          <p:cNvSpPr/>
          <p:nvPr/>
        </p:nvSpPr>
        <p:spPr>
          <a:xfrm>
            <a:off x="10881360" y="164134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Hexagon 37"/>
          <p:cNvSpPr/>
          <p:nvPr/>
        </p:nvSpPr>
        <p:spPr>
          <a:xfrm>
            <a:off x="10881360" y="234086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Hexagon 38"/>
          <p:cNvSpPr/>
          <p:nvPr/>
        </p:nvSpPr>
        <p:spPr>
          <a:xfrm>
            <a:off x="10881360" y="304037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Hexagon 39"/>
          <p:cNvSpPr/>
          <p:nvPr/>
        </p:nvSpPr>
        <p:spPr>
          <a:xfrm>
            <a:off x="10881360" y="37398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Hexagon 40"/>
          <p:cNvSpPr/>
          <p:nvPr/>
        </p:nvSpPr>
        <p:spPr>
          <a:xfrm>
            <a:off x="10881360" y="44394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1520" y="320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2A9D8F"/>
                </a:solidFill>
                <a:latin typeface="Calibri"/>
              </a:defRPr>
            </a:pPr>
            <a:r>
              <a:t>THE BRIEF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31520" y="640080"/>
            <a:ext cx="731520" cy="381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7772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600" b="1">
                <a:solidFill>
                  <a:srgbClr val="2C3E50"/>
                </a:solidFill>
                <a:latin typeface="Calibri"/>
              </a:defRPr>
            </a:pPr>
            <a:r>
              <a:t>What We Were Asked to Solve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4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31520" y="651052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546E7A"/>
                </a:solidFill>
                <a:latin typeface="Calibri"/>
              </a:defRPr>
            </a:pPr>
            <a:r>
              <a:t>Mr. Mayur More  |  Team Krishna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14800" y="6510528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0A4AE"/>
                </a:solidFill>
                <a:latin typeface="Calibri"/>
              </a:defRPr>
            </a:pPr>
            <a:r>
              <a:t>CancerCare 360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15600" y="651052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100" b="0">
                <a:solidFill>
                  <a:srgbClr val="90A4AE"/>
                </a:solidFill>
                <a:latin typeface="Calibri"/>
              </a:defRPr>
            </a:pPr>
            <a:r>
              <a:t>3 / 13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31520" y="1463040"/>
            <a:ext cx="1051560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1520" y="1463040"/>
            <a:ext cx="76200" cy="13716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097280" y="1691640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737360" y="16002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2A9D8F"/>
                </a:solidFill>
                <a:latin typeface="Calibri"/>
              </a:defRPr>
            </a:pPr>
            <a:r>
              <a:t>Ensure Patients Stay Connected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737360" y="1965960"/>
            <a:ext cx="9144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546E7A"/>
                </a:solidFill>
                <a:latin typeface="Calibri"/>
              </a:defRPr>
            </a:pPr>
            <a:r>
              <a:t>Design solutions that help healthcare teams ensure patients remain connected throughout their care journey — enabling early identification of patients requiring follow-up and timely interventions before they are lost to care.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31520" y="3017520"/>
            <a:ext cx="1051560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31520" y="3017520"/>
            <a:ext cx="76200" cy="1371600"/>
          </a:xfrm>
          <a:prstGeom prst="rect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097280" y="3246120"/>
            <a:ext cx="457200" cy="457200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737360" y="31546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457B9D"/>
                </a:solidFill>
                <a:latin typeface="Calibri"/>
              </a:defRPr>
            </a:pPr>
            <a:r>
              <a:t>Improve Visibility &amp; Coordination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737360" y="3520440"/>
            <a:ext cx="9144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546E7A"/>
                </a:solidFill>
                <a:latin typeface="Calibri"/>
              </a:defRPr>
            </a:pPr>
            <a:r>
              <a:t>Improve visibility across fragmented patient information to support informed decision-making, facilitate coordinated follow-up across doctors and care teams, and simplify follow-up workflows within existing healthcare settings.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31520" y="4572000"/>
            <a:ext cx="1051560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31520" y="4572000"/>
            <a:ext cx="76200" cy="13716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097280" y="4800600"/>
            <a:ext cx="457200" cy="457200"/>
          </a:xfrm>
          <a:prstGeom prst="ellipse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737360" y="47091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F4A261"/>
                </a:solidFill>
                <a:latin typeface="Calibri"/>
              </a:defRPr>
            </a:pPr>
            <a:r>
              <a:t>Reduce Gaps in Care at Scale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737360" y="5074920"/>
            <a:ext cx="9144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546E7A"/>
                </a:solidFill>
                <a:latin typeface="Calibri"/>
              </a:defRPr>
            </a:pPr>
            <a:r>
              <a:t>Reduce avoidable gaps in care by strengthening continuity of care and patient engagement, enabling healthcare providers to deliver timely, coordinated, and patient-centred follow-up at scale.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xagon 1"/>
          <p:cNvSpPr/>
          <p:nvPr/>
        </p:nvSpPr>
        <p:spPr>
          <a:xfrm>
            <a:off x="8686800" y="-45720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exagon 2"/>
          <p:cNvSpPr/>
          <p:nvPr/>
        </p:nvSpPr>
        <p:spPr>
          <a:xfrm>
            <a:off x="8686800" y="24231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xagon 3"/>
          <p:cNvSpPr/>
          <p:nvPr/>
        </p:nvSpPr>
        <p:spPr>
          <a:xfrm>
            <a:off x="8686800" y="94183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Hexagon 4"/>
          <p:cNvSpPr/>
          <p:nvPr/>
        </p:nvSpPr>
        <p:spPr>
          <a:xfrm>
            <a:off x="8686800" y="164134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Hexagon 5"/>
          <p:cNvSpPr/>
          <p:nvPr/>
        </p:nvSpPr>
        <p:spPr>
          <a:xfrm>
            <a:off x="8686800" y="234086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exagon 6"/>
          <p:cNvSpPr/>
          <p:nvPr/>
        </p:nvSpPr>
        <p:spPr>
          <a:xfrm>
            <a:off x="8686800" y="304037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exagon 7"/>
          <p:cNvSpPr/>
          <p:nvPr/>
        </p:nvSpPr>
        <p:spPr>
          <a:xfrm>
            <a:off x="8686800" y="37398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Hexagon 8"/>
          <p:cNvSpPr/>
          <p:nvPr/>
        </p:nvSpPr>
        <p:spPr>
          <a:xfrm>
            <a:off x="8686800" y="44394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Hexagon 9"/>
          <p:cNvSpPr/>
          <p:nvPr/>
        </p:nvSpPr>
        <p:spPr>
          <a:xfrm>
            <a:off x="9235440" y="-4571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exagon 10"/>
          <p:cNvSpPr/>
          <p:nvPr/>
        </p:nvSpPr>
        <p:spPr>
          <a:xfrm>
            <a:off x="9235440" y="6537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Hexagon 11"/>
          <p:cNvSpPr/>
          <p:nvPr/>
        </p:nvSpPr>
        <p:spPr>
          <a:xfrm>
            <a:off x="9235440" y="13533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Hexagon 12"/>
          <p:cNvSpPr/>
          <p:nvPr/>
        </p:nvSpPr>
        <p:spPr>
          <a:xfrm>
            <a:off x="9235440" y="205282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Hexagon 13"/>
          <p:cNvSpPr/>
          <p:nvPr/>
        </p:nvSpPr>
        <p:spPr>
          <a:xfrm>
            <a:off x="9235440" y="275234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Hexagon 14"/>
          <p:cNvSpPr/>
          <p:nvPr/>
        </p:nvSpPr>
        <p:spPr>
          <a:xfrm>
            <a:off x="9235440" y="345186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Hexagon 15"/>
          <p:cNvSpPr/>
          <p:nvPr/>
        </p:nvSpPr>
        <p:spPr>
          <a:xfrm>
            <a:off x="9235440" y="415137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Hexagon 16"/>
          <p:cNvSpPr/>
          <p:nvPr/>
        </p:nvSpPr>
        <p:spPr>
          <a:xfrm>
            <a:off x="9235440" y="485089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exagon 17"/>
          <p:cNvSpPr/>
          <p:nvPr/>
        </p:nvSpPr>
        <p:spPr>
          <a:xfrm>
            <a:off x="9784080" y="-45720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Hexagon 18"/>
          <p:cNvSpPr/>
          <p:nvPr/>
        </p:nvSpPr>
        <p:spPr>
          <a:xfrm>
            <a:off x="9784080" y="24231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Hexagon 19"/>
          <p:cNvSpPr/>
          <p:nvPr/>
        </p:nvSpPr>
        <p:spPr>
          <a:xfrm>
            <a:off x="9784080" y="94183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Hexagon 20"/>
          <p:cNvSpPr/>
          <p:nvPr/>
        </p:nvSpPr>
        <p:spPr>
          <a:xfrm>
            <a:off x="9784080" y="164134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Hexagon 21"/>
          <p:cNvSpPr/>
          <p:nvPr/>
        </p:nvSpPr>
        <p:spPr>
          <a:xfrm>
            <a:off x="9784080" y="234086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Hexagon 22"/>
          <p:cNvSpPr/>
          <p:nvPr/>
        </p:nvSpPr>
        <p:spPr>
          <a:xfrm>
            <a:off x="9784080" y="304037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Hexagon 23"/>
          <p:cNvSpPr/>
          <p:nvPr/>
        </p:nvSpPr>
        <p:spPr>
          <a:xfrm>
            <a:off x="9784080" y="37398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Hexagon 24"/>
          <p:cNvSpPr/>
          <p:nvPr/>
        </p:nvSpPr>
        <p:spPr>
          <a:xfrm>
            <a:off x="9784080" y="44394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Hexagon 25"/>
          <p:cNvSpPr/>
          <p:nvPr/>
        </p:nvSpPr>
        <p:spPr>
          <a:xfrm>
            <a:off x="10332720" y="-4571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Hexagon 26"/>
          <p:cNvSpPr/>
          <p:nvPr/>
        </p:nvSpPr>
        <p:spPr>
          <a:xfrm>
            <a:off x="10332720" y="6537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Hexagon 27"/>
          <p:cNvSpPr/>
          <p:nvPr/>
        </p:nvSpPr>
        <p:spPr>
          <a:xfrm>
            <a:off x="10332720" y="13533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Hexagon 28"/>
          <p:cNvSpPr/>
          <p:nvPr/>
        </p:nvSpPr>
        <p:spPr>
          <a:xfrm>
            <a:off x="10332720" y="205282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Hexagon 29"/>
          <p:cNvSpPr/>
          <p:nvPr/>
        </p:nvSpPr>
        <p:spPr>
          <a:xfrm>
            <a:off x="10332720" y="275234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Hexagon 30"/>
          <p:cNvSpPr/>
          <p:nvPr/>
        </p:nvSpPr>
        <p:spPr>
          <a:xfrm>
            <a:off x="10332720" y="345186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Hexagon 31"/>
          <p:cNvSpPr/>
          <p:nvPr/>
        </p:nvSpPr>
        <p:spPr>
          <a:xfrm>
            <a:off x="10332720" y="415137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Hexagon 32"/>
          <p:cNvSpPr/>
          <p:nvPr/>
        </p:nvSpPr>
        <p:spPr>
          <a:xfrm>
            <a:off x="10332720" y="485089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Hexagon 33"/>
          <p:cNvSpPr/>
          <p:nvPr/>
        </p:nvSpPr>
        <p:spPr>
          <a:xfrm>
            <a:off x="10881360" y="-45720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Hexagon 34"/>
          <p:cNvSpPr/>
          <p:nvPr/>
        </p:nvSpPr>
        <p:spPr>
          <a:xfrm>
            <a:off x="10881360" y="24231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Hexagon 35"/>
          <p:cNvSpPr/>
          <p:nvPr/>
        </p:nvSpPr>
        <p:spPr>
          <a:xfrm>
            <a:off x="10881360" y="94183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Hexagon 36"/>
          <p:cNvSpPr/>
          <p:nvPr/>
        </p:nvSpPr>
        <p:spPr>
          <a:xfrm>
            <a:off x="10881360" y="164134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Hexagon 37"/>
          <p:cNvSpPr/>
          <p:nvPr/>
        </p:nvSpPr>
        <p:spPr>
          <a:xfrm>
            <a:off x="10881360" y="234086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Hexagon 38"/>
          <p:cNvSpPr/>
          <p:nvPr/>
        </p:nvSpPr>
        <p:spPr>
          <a:xfrm>
            <a:off x="10881360" y="304037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Hexagon 39"/>
          <p:cNvSpPr/>
          <p:nvPr/>
        </p:nvSpPr>
        <p:spPr>
          <a:xfrm>
            <a:off x="10881360" y="37398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Hexagon 40"/>
          <p:cNvSpPr/>
          <p:nvPr/>
        </p:nvSpPr>
        <p:spPr>
          <a:xfrm>
            <a:off x="10881360" y="44394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1520" y="320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2A9D8F"/>
                </a:solidFill>
                <a:latin typeface="Calibri"/>
              </a:defRPr>
            </a:pPr>
            <a:r>
              <a:t>OUR SOLUTION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31520" y="640080"/>
            <a:ext cx="731520" cy="381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7772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600" b="1">
                <a:solidFill>
                  <a:srgbClr val="2C3E50"/>
                </a:solidFill>
                <a:latin typeface="Calibri"/>
              </a:defRPr>
            </a:pPr>
            <a:r>
              <a:t>CancerCare 360 — End-to-End Continuity Platform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4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31520" y="651052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546E7A"/>
                </a:solidFill>
                <a:latin typeface="Calibri"/>
              </a:defRPr>
            </a:pPr>
            <a:r>
              <a:t>Mr. Mayur More  |  Team Krishna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14800" y="6510528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0A4AE"/>
                </a:solidFill>
                <a:latin typeface="Calibri"/>
              </a:defRPr>
            </a:pPr>
            <a:r>
              <a:t>CancerCare 360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15600" y="651052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100" b="0">
                <a:solidFill>
                  <a:srgbClr val="90A4AE"/>
                </a:solidFill>
                <a:latin typeface="Calibri"/>
              </a:defRPr>
            </a:pPr>
            <a:r>
              <a:t>4 / 13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" y="1371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546E7A"/>
                </a:solidFill>
                <a:latin typeface="Calibri"/>
              </a:defRPr>
            </a:pPr>
            <a:r>
              <a:t>A full-stack web application tracking every patient from diagnosis to survivorship, automatically detecting who needs follow-up, and closing the loop before anyone is lost to care.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48640" y="1965960"/>
            <a:ext cx="265176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48640" y="1965960"/>
            <a:ext cx="365760" cy="109728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8640" y="233172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05840" y="210312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C3E50"/>
                </a:solidFill>
                <a:latin typeface="Calibri"/>
              </a:defRPr>
            </a:pPr>
            <a:r>
              <a:t>Patient Registry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05840" y="237744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Centralized Master Patient Index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383280" y="1965960"/>
            <a:ext cx="265176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383280" y="1965960"/>
            <a:ext cx="365760" cy="1097280"/>
          </a:xfrm>
          <a:prstGeom prst="rect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383280" y="233172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840480" y="210312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C3E50"/>
                </a:solidFill>
                <a:latin typeface="Calibri"/>
              </a:defRPr>
            </a:pPr>
            <a:r>
              <a:t>Longitudinal Journey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840480" y="237744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Visual timeline diagnosis → survivorship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217920" y="1965960"/>
            <a:ext cx="265176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217920" y="1965960"/>
            <a:ext cx="365760" cy="109728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217920" y="233172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675120" y="210312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C3E50"/>
                </a:solidFill>
                <a:latin typeface="Calibri"/>
              </a:defRPr>
            </a:pPr>
            <a:r>
              <a:t>Expected Follow-up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675120" y="237744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Milestones with target vs actual dates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9052560" y="1965960"/>
            <a:ext cx="265176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9052560" y="1965960"/>
            <a:ext cx="365760" cy="1097280"/>
          </a:xfrm>
          <a:prstGeom prst="rect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052560" y="233172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09760" y="210312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C3E50"/>
                </a:solidFill>
                <a:latin typeface="Calibri"/>
              </a:defRPr>
            </a:pPr>
            <a:r>
              <a:t>Care Gap Detection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509760" y="237744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9-scenario automated engine scans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548640" y="3246120"/>
            <a:ext cx="265176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48640" y="3246120"/>
            <a:ext cx="365760" cy="1097280"/>
          </a:xfrm>
          <a:prstGeom prst="rect">
            <a:avLst/>
          </a:prstGeom>
          <a:solidFill>
            <a:srgbClr val="8B6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48640" y="361188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05840" y="338328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C3E50"/>
                </a:solidFill>
                <a:latin typeface="Calibri"/>
              </a:defRPr>
            </a:pPr>
            <a:r>
              <a:t>Priority Task Queue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05840" y="365760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Auto-ranked tasks by criticality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3383280" y="3246120"/>
            <a:ext cx="265176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383280" y="3246120"/>
            <a:ext cx="365760" cy="109728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383280" y="361188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40480" y="338328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C3E50"/>
                </a:solidFill>
                <a:latin typeface="Calibri"/>
              </a:defRPr>
            </a:pPr>
            <a:r>
              <a:t>Coordinator Tasks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40480" y="365760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Assigned workflows for care teams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217920" y="3246120"/>
            <a:ext cx="265176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6217920" y="3246120"/>
            <a:ext cx="365760" cy="1097280"/>
          </a:xfrm>
          <a:prstGeom prst="rect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217920" y="361188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675120" y="338328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C3E50"/>
                </a:solidFill>
                <a:latin typeface="Calibri"/>
              </a:defRPr>
            </a:pPr>
            <a:r>
              <a:t>Multi-channel Outreach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675120" y="365760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Phone, SMS, WhatsApp logging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9052560" y="3246120"/>
            <a:ext cx="265176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9052560" y="3246120"/>
            <a:ext cx="365760" cy="109728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9052560" y="361188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509760" y="338328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C3E50"/>
                </a:solidFill>
                <a:latin typeface="Calibri"/>
              </a:defRPr>
            </a:pPr>
            <a:r>
              <a:t>Barrier Identification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509760" y="365760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6-category barrier screening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548640" y="4526280"/>
            <a:ext cx="265176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548640" y="4526280"/>
            <a:ext cx="365760" cy="1097280"/>
          </a:xfrm>
          <a:prstGeom prst="rect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48640" y="48920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05840" y="466344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C3E50"/>
                </a:solidFill>
                <a:latin typeface="Calibri"/>
              </a:defRPr>
            </a:pPr>
            <a:r>
              <a:t>Appointment Recovery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05840" y="493776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Closed-loop rebooking &amp; slot recovery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3383280" y="4526280"/>
            <a:ext cx="265176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3383280" y="4526280"/>
            <a:ext cx="365760" cy="1097280"/>
          </a:xfrm>
          <a:prstGeom prst="rect">
            <a:avLst/>
          </a:prstGeom>
          <a:solidFill>
            <a:srgbClr val="8B6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3383280" y="48920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840480" y="466344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C3E50"/>
                </a:solidFill>
                <a:latin typeface="Calibri"/>
              </a:defRPr>
            </a:pPr>
            <a:r>
              <a:t>Escalation Workflows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840480" y="493776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Inter-role clinical handoffs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6217920" y="4526280"/>
            <a:ext cx="265176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6217920" y="4526280"/>
            <a:ext cx="365760" cy="109728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217920" y="48920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11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675120" y="466344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C3E50"/>
                </a:solidFill>
                <a:latin typeface="Calibri"/>
              </a:defRPr>
            </a:pPr>
            <a:r>
              <a:t>Re-engagement Tracking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675120" y="493776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Patient status returns to RE_ENGAGED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9052560" y="4526280"/>
            <a:ext cx="265176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9052560" y="4526280"/>
            <a:ext cx="365760" cy="1097280"/>
          </a:xfrm>
          <a:prstGeom prst="rect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9052560" y="48920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509760" y="466344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C3E50"/>
                </a:solidFill>
                <a:latin typeface="Calibri"/>
              </a:defRPr>
            </a:pPr>
            <a:r>
              <a:t>Continuity Analytics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9509760" y="493776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Retention dashboards &amp; SLA reports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xagon 1"/>
          <p:cNvSpPr/>
          <p:nvPr/>
        </p:nvSpPr>
        <p:spPr>
          <a:xfrm>
            <a:off x="8686800" y="-45720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exagon 2"/>
          <p:cNvSpPr/>
          <p:nvPr/>
        </p:nvSpPr>
        <p:spPr>
          <a:xfrm>
            <a:off x="8686800" y="24231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xagon 3"/>
          <p:cNvSpPr/>
          <p:nvPr/>
        </p:nvSpPr>
        <p:spPr>
          <a:xfrm>
            <a:off x="8686800" y="94183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Hexagon 4"/>
          <p:cNvSpPr/>
          <p:nvPr/>
        </p:nvSpPr>
        <p:spPr>
          <a:xfrm>
            <a:off x="8686800" y="164134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Hexagon 5"/>
          <p:cNvSpPr/>
          <p:nvPr/>
        </p:nvSpPr>
        <p:spPr>
          <a:xfrm>
            <a:off x="8686800" y="234086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exagon 6"/>
          <p:cNvSpPr/>
          <p:nvPr/>
        </p:nvSpPr>
        <p:spPr>
          <a:xfrm>
            <a:off x="8686800" y="304037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exagon 7"/>
          <p:cNvSpPr/>
          <p:nvPr/>
        </p:nvSpPr>
        <p:spPr>
          <a:xfrm>
            <a:off x="8686800" y="37398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Hexagon 8"/>
          <p:cNvSpPr/>
          <p:nvPr/>
        </p:nvSpPr>
        <p:spPr>
          <a:xfrm>
            <a:off x="8686800" y="44394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Hexagon 9"/>
          <p:cNvSpPr/>
          <p:nvPr/>
        </p:nvSpPr>
        <p:spPr>
          <a:xfrm>
            <a:off x="9235440" y="-4571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exagon 10"/>
          <p:cNvSpPr/>
          <p:nvPr/>
        </p:nvSpPr>
        <p:spPr>
          <a:xfrm>
            <a:off x="9235440" y="6537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Hexagon 11"/>
          <p:cNvSpPr/>
          <p:nvPr/>
        </p:nvSpPr>
        <p:spPr>
          <a:xfrm>
            <a:off x="9235440" y="13533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Hexagon 12"/>
          <p:cNvSpPr/>
          <p:nvPr/>
        </p:nvSpPr>
        <p:spPr>
          <a:xfrm>
            <a:off x="9235440" y="205282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Hexagon 13"/>
          <p:cNvSpPr/>
          <p:nvPr/>
        </p:nvSpPr>
        <p:spPr>
          <a:xfrm>
            <a:off x="9235440" y="275234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Hexagon 14"/>
          <p:cNvSpPr/>
          <p:nvPr/>
        </p:nvSpPr>
        <p:spPr>
          <a:xfrm>
            <a:off x="9235440" y="345186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Hexagon 15"/>
          <p:cNvSpPr/>
          <p:nvPr/>
        </p:nvSpPr>
        <p:spPr>
          <a:xfrm>
            <a:off x="9235440" y="415137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Hexagon 16"/>
          <p:cNvSpPr/>
          <p:nvPr/>
        </p:nvSpPr>
        <p:spPr>
          <a:xfrm>
            <a:off x="9235440" y="485089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exagon 17"/>
          <p:cNvSpPr/>
          <p:nvPr/>
        </p:nvSpPr>
        <p:spPr>
          <a:xfrm>
            <a:off x="9784080" y="-45720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Hexagon 18"/>
          <p:cNvSpPr/>
          <p:nvPr/>
        </p:nvSpPr>
        <p:spPr>
          <a:xfrm>
            <a:off x="9784080" y="24231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Hexagon 19"/>
          <p:cNvSpPr/>
          <p:nvPr/>
        </p:nvSpPr>
        <p:spPr>
          <a:xfrm>
            <a:off x="9784080" y="94183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Hexagon 20"/>
          <p:cNvSpPr/>
          <p:nvPr/>
        </p:nvSpPr>
        <p:spPr>
          <a:xfrm>
            <a:off x="9784080" y="164134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Hexagon 21"/>
          <p:cNvSpPr/>
          <p:nvPr/>
        </p:nvSpPr>
        <p:spPr>
          <a:xfrm>
            <a:off x="9784080" y="234086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Hexagon 22"/>
          <p:cNvSpPr/>
          <p:nvPr/>
        </p:nvSpPr>
        <p:spPr>
          <a:xfrm>
            <a:off x="9784080" y="304037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Hexagon 23"/>
          <p:cNvSpPr/>
          <p:nvPr/>
        </p:nvSpPr>
        <p:spPr>
          <a:xfrm>
            <a:off x="9784080" y="37398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Hexagon 24"/>
          <p:cNvSpPr/>
          <p:nvPr/>
        </p:nvSpPr>
        <p:spPr>
          <a:xfrm>
            <a:off x="9784080" y="44394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Hexagon 25"/>
          <p:cNvSpPr/>
          <p:nvPr/>
        </p:nvSpPr>
        <p:spPr>
          <a:xfrm>
            <a:off x="10332720" y="-4571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Hexagon 26"/>
          <p:cNvSpPr/>
          <p:nvPr/>
        </p:nvSpPr>
        <p:spPr>
          <a:xfrm>
            <a:off x="10332720" y="6537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Hexagon 27"/>
          <p:cNvSpPr/>
          <p:nvPr/>
        </p:nvSpPr>
        <p:spPr>
          <a:xfrm>
            <a:off x="10332720" y="13533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Hexagon 28"/>
          <p:cNvSpPr/>
          <p:nvPr/>
        </p:nvSpPr>
        <p:spPr>
          <a:xfrm>
            <a:off x="10332720" y="205282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Hexagon 29"/>
          <p:cNvSpPr/>
          <p:nvPr/>
        </p:nvSpPr>
        <p:spPr>
          <a:xfrm>
            <a:off x="10332720" y="275234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Hexagon 30"/>
          <p:cNvSpPr/>
          <p:nvPr/>
        </p:nvSpPr>
        <p:spPr>
          <a:xfrm>
            <a:off x="10332720" y="345186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Hexagon 31"/>
          <p:cNvSpPr/>
          <p:nvPr/>
        </p:nvSpPr>
        <p:spPr>
          <a:xfrm>
            <a:off x="10332720" y="415137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Hexagon 32"/>
          <p:cNvSpPr/>
          <p:nvPr/>
        </p:nvSpPr>
        <p:spPr>
          <a:xfrm>
            <a:off x="10332720" y="485089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Hexagon 33"/>
          <p:cNvSpPr/>
          <p:nvPr/>
        </p:nvSpPr>
        <p:spPr>
          <a:xfrm>
            <a:off x="10881360" y="-45720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Hexagon 34"/>
          <p:cNvSpPr/>
          <p:nvPr/>
        </p:nvSpPr>
        <p:spPr>
          <a:xfrm>
            <a:off x="10881360" y="24231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Hexagon 35"/>
          <p:cNvSpPr/>
          <p:nvPr/>
        </p:nvSpPr>
        <p:spPr>
          <a:xfrm>
            <a:off x="10881360" y="94183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Hexagon 36"/>
          <p:cNvSpPr/>
          <p:nvPr/>
        </p:nvSpPr>
        <p:spPr>
          <a:xfrm>
            <a:off x="10881360" y="164134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Hexagon 37"/>
          <p:cNvSpPr/>
          <p:nvPr/>
        </p:nvSpPr>
        <p:spPr>
          <a:xfrm>
            <a:off x="10881360" y="234086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Hexagon 38"/>
          <p:cNvSpPr/>
          <p:nvPr/>
        </p:nvSpPr>
        <p:spPr>
          <a:xfrm>
            <a:off x="10881360" y="304037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Hexagon 39"/>
          <p:cNvSpPr/>
          <p:nvPr/>
        </p:nvSpPr>
        <p:spPr>
          <a:xfrm>
            <a:off x="10881360" y="37398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Hexagon 40"/>
          <p:cNvSpPr/>
          <p:nvPr/>
        </p:nvSpPr>
        <p:spPr>
          <a:xfrm>
            <a:off x="10881360" y="44394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1520" y="320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2A9D8F"/>
                </a:solidFill>
                <a:latin typeface="Calibri"/>
              </a:defRPr>
            </a:pPr>
            <a:r>
              <a:t>FEATURE DEEP DIVE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31520" y="640080"/>
            <a:ext cx="731520" cy="381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7772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600" b="1">
                <a:solidFill>
                  <a:srgbClr val="2C3E50"/>
                </a:solidFill>
                <a:latin typeface="Calibri"/>
              </a:defRPr>
            </a:pPr>
            <a:r>
              <a:t>Patient Registry &amp; Longitudinal Care Journey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4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31520" y="651052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546E7A"/>
                </a:solidFill>
                <a:latin typeface="Calibri"/>
              </a:defRPr>
            </a:pPr>
            <a:r>
              <a:t>Mr. Mayur More  |  Team Krishna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14800" y="6510528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0A4AE"/>
                </a:solidFill>
                <a:latin typeface="Calibri"/>
              </a:defRPr>
            </a:pPr>
            <a:r>
              <a:t>CancerCare 360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15600" y="651052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100" b="0">
                <a:solidFill>
                  <a:srgbClr val="90A4AE"/>
                </a:solidFill>
                <a:latin typeface="Calibri"/>
              </a:defRPr>
            </a:pPr>
            <a:r>
              <a:t>5 / 13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48640" y="1463040"/>
            <a:ext cx="539496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48640" y="1463040"/>
            <a:ext cx="5394960" cy="762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22960" y="164592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9D8F"/>
                </a:solidFill>
                <a:latin typeface="Calibri"/>
              </a:defRPr>
            </a:pPr>
            <a:r>
              <a:t>Patient Registry &amp; 360° Dossier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2960" y="2103120"/>
            <a:ext cx="228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A9D8F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97280" y="210312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Master Patient Index with MRN, demographics, cancer staging (TNM), and ABHA ID linking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2960" y="2697480"/>
            <a:ext cx="228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A9D8F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7280" y="269748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8 Follow-up Continuity Stages: Under Treatment → Under Follow-up → Surveillance → Requiring Investigation → Requiring Review → At-Risk LTFU → Lost to Follow-up → Re-engaged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2960" y="3200400"/>
            <a:ext cx="228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A9D8F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97280" y="32004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360° Patient Dossier with 6 tabs: Consultation Briefing, Navigation &amp; Barriers, Follow-up Plan, Longitudinal Journey, Investigations, Clinical Documents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2960" y="3794760"/>
            <a:ext cx="228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A9D8F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97280" y="379476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Quick metrics: Total Cohort, Under Active Treatment, At-Risk LTFU, Re-engaged counts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2960" y="4389120"/>
            <a:ext cx="228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A9D8F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97280" y="438912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Patient search by MRN, Name, Phone with stage-based filtering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22960" y="4983480"/>
            <a:ext cx="228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A9D8F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97280" y="498348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Register, edit, and manage patient records with full CRUD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126480" y="1463040"/>
            <a:ext cx="539496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126480" y="1463040"/>
            <a:ext cx="5394960" cy="76200"/>
          </a:xfrm>
          <a:prstGeom prst="rect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400800" y="164592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457B9D"/>
                </a:solidFill>
                <a:latin typeface="Calibri"/>
              </a:defRPr>
            </a:pPr>
            <a:r>
              <a:t>Longitudinal Care Journey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00800" y="2103120"/>
            <a:ext cx="228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457B9D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675120" y="210312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Visual interactive timeline mapping every patient's cancer pathway from initial staging to survivorship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00800" y="2697480"/>
            <a:ext cx="228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457B9D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675120" y="269748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Milestone tracking: Chemo Cycle 1, Post-op Scan, Radiation Planning — each with target vs actual dates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400800" y="3200400"/>
            <a:ext cx="228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457B9D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675120" y="32004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Journey Events: Discrete clinical events (biopsy, chemo cycle, radiation fraction, surgery) logged chronologically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400800" y="3794760"/>
            <a:ext cx="228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457B9D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675120" y="379476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Protocol Assignment: Link treatment protocols (e.g. AC-T Chemotherapy, NCCN) to each journey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400800" y="4389120"/>
            <a:ext cx="228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457B9D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675120" y="438912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Milestone CRUD: Create, edit, delete, and mark milestones complete with clinical notes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400800" y="4983480"/>
            <a:ext cx="228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457B9D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675120" y="498348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Automatic gap triggers when milestones are overdue or delayed beyond protocol SLA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xagon 1"/>
          <p:cNvSpPr/>
          <p:nvPr/>
        </p:nvSpPr>
        <p:spPr>
          <a:xfrm>
            <a:off x="8686800" y="-45720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exagon 2"/>
          <p:cNvSpPr/>
          <p:nvPr/>
        </p:nvSpPr>
        <p:spPr>
          <a:xfrm>
            <a:off x="8686800" y="24231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xagon 3"/>
          <p:cNvSpPr/>
          <p:nvPr/>
        </p:nvSpPr>
        <p:spPr>
          <a:xfrm>
            <a:off x="8686800" y="94183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Hexagon 4"/>
          <p:cNvSpPr/>
          <p:nvPr/>
        </p:nvSpPr>
        <p:spPr>
          <a:xfrm>
            <a:off x="8686800" y="164134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Hexagon 5"/>
          <p:cNvSpPr/>
          <p:nvPr/>
        </p:nvSpPr>
        <p:spPr>
          <a:xfrm>
            <a:off x="8686800" y="234086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exagon 6"/>
          <p:cNvSpPr/>
          <p:nvPr/>
        </p:nvSpPr>
        <p:spPr>
          <a:xfrm>
            <a:off x="8686800" y="304037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exagon 7"/>
          <p:cNvSpPr/>
          <p:nvPr/>
        </p:nvSpPr>
        <p:spPr>
          <a:xfrm>
            <a:off x="8686800" y="37398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Hexagon 8"/>
          <p:cNvSpPr/>
          <p:nvPr/>
        </p:nvSpPr>
        <p:spPr>
          <a:xfrm>
            <a:off x="8686800" y="44394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Hexagon 9"/>
          <p:cNvSpPr/>
          <p:nvPr/>
        </p:nvSpPr>
        <p:spPr>
          <a:xfrm>
            <a:off x="9235440" y="-4571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exagon 10"/>
          <p:cNvSpPr/>
          <p:nvPr/>
        </p:nvSpPr>
        <p:spPr>
          <a:xfrm>
            <a:off x="9235440" y="6537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Hexagon 11"/>
          <p:cNvSpPr/>
          <p:nvPr/>
        </p:nvSpPr>
        <p:spPr>
          <a:xfrm>
            <a:off x="9235440" y="13533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Hexagon 12"/>
          <p:cNvSpPr/>
          <p:nvPr/>
        </p:nvSpPr>
        <p:spPr>
          <a:xfrm>
            <a:off x="9235440" y="205282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Hexagon 13"/>
          <p:cNvSpPr/>
          <p:nvPr/>
        </p:nvSpPr>
        <p:spPr>
          <a:xfrm>
            <a:off x="9235440" y="275234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Hexagon 14"/>
          <p:cNvSpPr/>
          <p:nvPr/>
        </p:nvSpPr>
        <p:spPr>
          <a:xfrm>
            <a:off x="9235440" y="345186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Hexagon 15"/>
          <p:cNvSpPr/>
          <p:nvPr/>
        </p:nvSpPr>
        <p:spPr>
          <a:xfrm>
            <a:off x="9235440" y="415137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Hexagon 16"/>
          <p:cNvSpPr/>
          <p:nvPr/>
        </p:nvSpPr>
        <p:spPr>
          <a:xfrm>
            <a:off x="9235440" y="485089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exagon 17"/>
          <p:cNvSpPr/>
          <p:nvPr/>
        </p:nvSpPr>
        <p:spPr>
          <a:xfrm>
            <a:off x="9784080" y="-45720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Hexagon 18"/>
          <p:cNvSpPr/>
          <p:nvPr/>
        </p:nvSpPr>
        <p:spPr>
          <a:xfrm>
            <a:off x="9784080" y="24231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Hexagon 19"/>
          <p:cNvSpPr/>
          <p:nvPr/>
        </p:nvSpPr>
        <p:spPr>
          <a:xfrm>
            <a:off x="9784080" y="94183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Hexagon 20"/>
          <p:cNvSpPr/>
          <p:nvPr/>
        </p:nvSpPr>
        <p:spPr>
          <a:xfrm>
            <a:off x="9784080" y="164134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Hexagon 21"/>
          <p:cNvSpPr/>
          <p:nvPr/>
        </p:nvSpPr>
        <p:spPr>
          <a:xfrm>
            <a:off x="9784080" y="234086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Hexagon 22"/>
          <p:cNvSpPr/>
          <p:nvPr/>
        </p:nvSpPr>
        <p:spPr>
          <a:xfrm>
            <a:off x="9784080" y="304037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Hexagon 23"/>
          <p:cNvSpPr/>
          <p:nvPr/>
        </p:nvSpPr>
        <p:spPr>
          <a:xfrm>
            <a:off x="9784080" y="37398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Hexagon 24"/>
          <p:cNvSpPr/>
          <p:nvPr/>
        </p:nvSpPr>
        <p:spPr>
          <a:xfrm>
            <a:off x="9784080" y="44394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Hexagon 25"/>
          <p:cNvSpPr/>
          <p:nvPr/>
        </p:nvSpPr>
        <p:spPr>
          <a:xfrm>
            <a:off x="10332720" y="-4571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Hexagon 26"/>
          <p:cNvSpPr/>
          <p:nvPr/>
        </p:nvSpPr>
        <p:spPr>
          <a:xfrm>
            <a:off x="10332720" y="6537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Hexagon 27"/>
          <p:cNvSpPr/>
          <p:nvPr/>
        </p:nvSpPr>
        <p:spPr>
          <a:xfrm>
            <a:off x="10332720" y="13533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Hexagon 28"/>
          <p:cNvSpPr/>
          <p:nvPr/>
        </p:nvSpPr>
        <p:spPr>
          <a:xfrm>
            <a:off x="10332720" y="205282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Hexagon 29"/>
          <p:cNvSpPr/>
          <p:nvPr/>
        </p:nvSpPr>
        <p:spPr>
          <a:xfrm>
            <a:off x="10332720" y="275234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Hexagon 30"/>
          <p:cNvSpPr/>
          <p:nvPr/>
        </p:nvSpPr>
        <p:spPr>
          <a:xfrm>
            <a:off x="10332720" y="345186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Hexagon 31"/>
          <p:cNvSpPr/>
          <p:nvPr/>
        </p:nvSpPr>
        <p:spPr>
          <a:xfrm>
            <a:off x="10332720" y="415137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Hexagon 32"/>
          <p:cNvSpPr/>
          <p:nvPr/>
        </p:nvSpPr>
        <p:spPr>
          <a:xfrm>
            <a:off x="10332720" y="485089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Hexagon 33"/>
          <p:cNvSpPr/>
          <p:nvPr/>
        </p:nvSpPr>
        <p:spPr>
          <a:xfrm>
            <a:off x="10881360" y="-45720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Hexagon 34"/>
          <p:cNvSpPr/>
          <p:nvPr/>
        </p:nvSpPr>
        <p:spPr>
          <a:xfrm>
            <a:off x="10881360" y="24231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Hexagon 35"/>
          <p:cNvSpPr/>
          <p:nvPr/>
        </p:nvSpPr>
        <p:spPr>
          <a:xfrm>
            <a:off x="10881360" y="94183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Hexagon 36"/>
          <p:cNvSpPr/>
          <p:nvPr/>
        </p:nvSpPr>
        <p:spPr>
          <a:xfrm>
            <a:off x="10881360" y="164134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Hexagon 37"/>
          <p:cNvSpPr/>
          <p:nvPr/>
        </p:nvSpPr>
        <p:spPr>
          <a:xfrm>
            <a:off x="10881360" y="234086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Hexagon 38"/>
          <p:cNvSpPr/>
          <p:nvPr/>
        </p:nvSpPr>
        <p:spPr>
          <a:xfrm>
            <a:off x="10881360" y="304037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Hexagon 39"/>
          <p:cNvSpPr/>
          <p:nvPr/>
        </p:nvSpPr>
        <p:spPr>
          <a:xfrm>
            <a:off x="10881360" y="37398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Hexagon 40"/>
          <p:cNvSpPr/>
          <p:nvPr/>
        </p:nvSpPr>
        <p:spPr>
          <a:xfrm>
            <a:off x="10881360" y="44394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1520" y="320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2A9D8F"/>
                </a:solidFill>
                <a:latin typeface="Calibri"/>
              </a:defRPr>
            </a:pPr>
            <a:r>
              <a:t>THE HEART OF THE PLATFORM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31520" y="640080"/>
            <a:ext cx="731520" cy="381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7772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600" b="1">
                <a:solidFill>
                  <a:srgbClr val="2C3E50"/>
                </a:solidFill>
                <a:latin typeface="Calibri"/>
              </a:defRPr>
            </a:pPr>
            <a:r>
              <a:t>Automated 9-Scenario Care Gap Detection Engine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4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31520" y="651052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546E7A"/>
                </a:solidFill>
                <a:latin typeface="Calibri"/>
              </a:defRPr>
            </a:pPr>
            <a:r>
              <a:t>Mr. Mayur More  |  Team Krishna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14800" y="6510528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0A4AE"/>
                </a:solidFill>
                <a:latin typeface="Calibri"/>
              </a:defRPr>
            </a:pPr>
            <a:r>
              <a:t>CancerCare 360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15600" y="651052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100" b="0">
                <a:solidFill>
                  <a:srgbClr val="90A4AE"/>
                </a:solidFill>
                <a:latin typeface="Calibri"/>
              </a:defRPr>
            </a:pPr>
            <a:r>
              <a:t>6 / 13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" y="13258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546E7A"/>
                </a:solidFill>
                <a:latin typeface="Calibri"/>
              </a:defRPr>
            </a:pPr>
            <a:r>
              <a:t>Continuously monitors the clinical database to detect patients falling off protocol — before they become lost to follow-up.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48640" y="1828800"/>
            <a:ext cx="356616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48640" y="1828800"/>
            <a:ext cx="76200" cy="1097280"/>
          </a:xfrm>
          <a:prstGeom prst="rect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85800" y="1920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E76F51"/>
                </a:solidFill>
                <a:latin typeface="Calibri"/>
              </a:defRPr>
            </a:pPr>
            <a:r>
              <a:t>#1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97280" y="1938528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C3E50"/>
                </a:solidFill>
                <a:latin typeface="Calibri"/>
              </a:defRPr>
            </a:pPr>
            <a:r>
              <a:t>Overdue Follow-up Milestones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97280" y="2240280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Chemo cycle, scan, or review date passed without completion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297679" y="1828800"/>
            <a:ext cx="356616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297679" y="1828800"/>
            <a:ext cx="76200" cy="1097280"/>
          </a:xfrm>
          <a:prstGeom prst="rect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434839" y="1920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457B9D"/>
                </a:solidFill>
                <a:latin typeface="Calibri"/>
              </a:defRPr>
            </a:pPr>
            <a:r>
              <a:t>#2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846319" y="1938528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C3E50"/>
                </a:solidFill>
                <a:latin typeface="Calibri"/>
              </a:defRPr>
            </a:pPr>
            <a:r>
              <a:t>Missed Appointment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846319" y="2240280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Patient missed an appointment and has no future booking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046718" y="1828800"/>
            <a:ext cx="356616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046718" y="1828800"/>
            <a:ext cx="76200" cy="109728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183878" y="1920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F4A261"/>
                </a:solidFill>
                <a:latin typeface="Calibri"/>
              </a:defRPr>
            </a:pPr>
            <a:r>
              <a:t>#3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595358" y="1938528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C3E50"/>
                </a:solidFill>
                <a:latin typeface="Calibri"/>
              </a:defRPr>
            </a:pPr>
            <a:r>
              <a:t>Cancelled Without Replacement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595358" y="2240280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Appointment cancelled but no replacement slot was booked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48640" y="3108960"/>
            <a:ext cx="356616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48640" y="3108960"/>
            <a:ext cx="76200" cy="1097280"/>
          </a:xfrm>
          <a:prstGeom prst="rect">
            <a:avLst/>
          </a:prstGeom>
          <a:solidFill>
            <a:srgbClr val="8B6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85800" y="32004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8B6BC4"/>
                </a:solidFill>
                <a:latin typeface="Calibri"/>
              </a:defRPr>
            </a:pPr>
            <a:r>
              <a:t>#4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97280" y="3218688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C3E50"/>
                </a:solidFill>
                <a:latin typeface="Calibri"/>
              </a:defRPr>
            </a:pPr>
            <a:r>
              <a:t>Investigation Exceeding SLA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97280" y="3520440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Pending lab/imaging/biopsy result beyond turnaround deadline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4297679" y="3108960"/>
            <a:ext cx="356616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4297679" y="3108960"/>
            <a:ext cx="76200" cy="109728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434839" y="32004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2A9D8F"/>
                </a:solidFill>
                <a:latin typeface="Calibri"/>
              </a:defRPr>
            </a:pPr>
            <a:r>
              <a:t>#5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19" y="3218688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C3E50"/>
                </a:solidFill>
                <a:latin typeface="Calibri"/>
              </a:defRPr>
            </a:pPr>
            <a:r>
              <a:t>Unreviewed Report &gt; 48 Hours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846319" y="3520440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Diagnostic report ready but not reviewed by oncologist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8046718" y="3108960"/>
            <a:ext cx="356616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046718" y="3108960"/>
            <a:ext cx="76200" cy="1097280"/>
          </a:xfrm>
          <a:prstGeom prst="rect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183878" y="32004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E76F51"/>
                </a:solidFill>
                <a:latin typeface="Calibri"/>
              </a:defRPr>
            </a:pPr>
            <a:r>
              <a:t>#6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595358" y="3218688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C3E50"/>
                </a:solidFill>
                <a:latin typeface="Calibri"/>
              </a:defRPr>
            </a:pPr>
            <a:r>
              <a:t>No Future Appointments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95358" y="3520440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Active cancer patient with zero upcoming appointments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548640" y="4389120"/>
            <a:ext cx="356616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548640" y="4389120"/>
            <a:ext cx="76200" cy="1097280"/>
          </a:xfrm>
          <a:prstGeom prst="rect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85800" y="44805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457B9D"/>
                </a:solidFill>
                <a:latin typeface="Calibri"/>
              </a:defRPr>
            </a:pPr>
            <a:r>
              <a:t>#7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97280" y="4498848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C3E50"/>
                </a:solidFill>
                <a:latin typeface="Calibri"/>
              </a:defRPr>
            </a:pPr>
            <a:r>
              <a:t>Repeated No-Shows (≥ 2)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97280" y="4800600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Patient missed 2+ consecutive scheduled sessions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4297679" y="4389120"/>
            <a:ext cx="356616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4297679" y="4389120"/>
            <a:ext cx="76200" cy="109728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434839" y="44805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F4A261"/>
                </a:solidFill>
                <a:latin typeface="Calibri"/>
              </a:defRPr>
            </a:pPr>
            <a:r>
              <a:t>#8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46319" y="4498848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C3E50"/>
                </a:solidFill>
                <a:latin typeface="Calibri"/>
              </a:defRPr>
            </a:pPr>
            <a:r>
              <a:t>Stalled Outreach (≥ 2 failed)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846319" y="4800600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Two or more contact attempts failed, patient unreachable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8046718" y="4389120"/>
            <a:ext cx="356616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8046718" y="4389120"/>
            <a:ext cx="76200" cy="1097280"/>
          </a:xfrm>
          <a:prstGeom prst="rect">
            <a:avLst/>
          </a:prstGeom>
          <a:solidFill>
            <a:srgbClr val="8B6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183878" y="44805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8B6BC4"/>
                </a:solidFill>
                <a:latin typeface="Calibri"/>
              </a:defRPr>
            </a:pPr>
            <a:r>
              <a:t>#9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595358" y="4498848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C3E50"/>
                </a:solidFill>
                <a:latin typeface="Calibri"/>
              </a:defRPr>
            </a:pPr>
            <a:r>
              <a:t>Extended Inactivity (45+ days)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595358" y="4800600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No clinical touchpoint in over 45 days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xagon 1"/>
          <p:cNvSpPr/>
          <p:nvPr/>
        </p:nvSpPr>
        <p:spPr>
          <a:xfrm>
            <a:off x="8686800" y="-45720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exagon 2"/>
          <p:cNvSpPr/>
          <p:nvPr/>
        </p:nvSpPr>
        <p:spPr>
          <a:xfrm>
            <a:off x="8686800" y="24231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xagon 3"/>
          <p:cNvSpPr/>
          <p:nvPr/>
        </p:nvSpPr>
        <p:spPr>
          <a:xfrm>
            <a:off x="8686800" y="94183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Hexagon 4"/>
          <p:cNvSpPr/>
          <p:nvPr/>
        </p:nvSpPr>
        <p:spPr>
          <a:xfrm>
            <a:off x="8686800" y="164134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Hexagon 5"/>
          <p:cNvSpPr/>
          <p:nvPr/>
        </p:nvSpPr>
        <p:spPr>
          <a:xfrm>
            <a:off x="8686800" y="234086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exagon 6"/>
          <p:cNvSpPr/>
          <p:nvPr/>
        </p:nvSpPr>
        <p:spPr>
          <a:xfrm>
            <a:off x="8686800" y="304037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exagon 7"/>
          <p:cNvSpPr/>
          <p:nvPr/>
        </p:nvSpPr>
        <p:spPr>
          <a:xfrm>
            <a:off x="8686800" y="37398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Hexagon 8"/>
          <p:cNvSpPr/>
          <p:nvPr/>
        </p:nvSpPr>
        <p:spPr>
          <a:xfrm>
            <a:off x="8686800" y="44394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Hexagon 9"/>
          <p:cNvSpPr/>
          <p:nvPr/>
        </p:nvSpPr>
        <p:spPr>
          <a:xfrm>
            <a:off x="9235440" y="-4571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exagon 10"/>
          <p:cNvSpPr/>
          <p:nvPr/>
        </p:nvSpPr>
        <p:spPr>
          <a:xfrm>
            <a:off x="9235440" y="6537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Hexagon 11"/>
          <p:cNvSpPr/>
          <p:nvPr/>
        </p:nvSpPr>
        <p:spPr>
          <a:xfrm>
            <a:off x="9235440" y="13533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Hexagon 12"/>
          <p:cNvSpPr/>
          <p:nvPr/>
        </p:nvSpPr>
        <p:spPr>
          <a:xfrm>
            <a:off x="9235440" y="205282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Hexagon 13"/>
          <p:cNvSpPr/>
          <p:nvPr/>
        </p:nvSpPr>
        <p:spPr>
          <a:xfrm>
            <a:off x="9235440" y="275234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Hexagon 14"/>
          <p:cNvSpPr/>
          <p:nvPr/>
        </p:nvSpPr>
        <p:spPr>
          <a:xfrm>
            <a:off x="9235440" y="345186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Hexagon 15"/>
          <p:cNvSpPr/>
          <p:nvPr/>
        </p:nvSpPr>
        <p:spPr>
          <a:xfrm>
            <a:off x="9235440" y="415137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Hexagon 16"/>
          <p:cNvSpPr/>
          <p:nvPr/>
        </p:nvSpPr>
        <p:spPr>
          <a:xfrm>
            <a:off x="9235440" y="485089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exagon 17"/>
          <p:cNvSpPr/>
          <p:nvPr/>
        </p:nvSpPr>
        <p:spPr>
          <a:xfrm>
            <a:off x="9784080" y="-45720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Hexagon 18"/>
          <p:cNvSpPr/>
          <p:nvPr/>
        </p:nvSpPr>
        <p:spPr>
          <a:xfrm>
            <a:off x="9784080" y="24231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Hexagon 19"/>
          <p:cNvSpPr/>
          <p:nvPr/>
        </p:nvSpPr>
        <p:spPr>
          <a:xfrm>
            <a:off x="9784080" y="94183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Hexagon 20"/>
          <p:cNvSpPr/>
          <p:nvPr/>
        </p:nvSpPr>
        <p:spPr>
          <a:xfrm>
            <a:off x="9784080" y="164134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Hexagon 21"/>
          <p:cNvSpPr/>
          <p:nvPr/>
        </p:nvSpPr>
        <p:spPr>
          <a:xfrm>
            <a:off x="9784080" y="234086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Hexagon 22"/>
          <p:cNvSpPr/>
          <p:nvPr/>
        </p:nvSpPr>
        <p:spPr>
          <a:xfrm>
            <a:off x="9784080" y="304037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Hexagon 23"/>
          <p:cNvSpPr/>
          <p:nvPr/>
        </p:nvSpPr>
        <p:spPr>
          <a:xfrm>
            <a:off x="9784080" y="37398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Hexagon 24"/>
          <p:cNvSpPr/>
          <p:nvPr/>
        </p:nvSpPr>
        <p:spPr>
          <a:xfrm>
            <a:off x="9784080" y="44394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Hexagon 25"/>
          <p:cNvSpPr/>
          <p:nvPr/>
        </p:nvSpPr>
        <p:spPr>
          <a:xfrm>
            <a:off x="10332720" y="-4571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Hexagon 26"/>
          <p:cNvSpPr/>
          <p:nvPr/>
        </p:nvSpPr>
        <p:spPr>
          <a:xfrm>
            <a:off x="10332720" y="6537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Hexagon 27"/>
          <p:cNvSpPr/>
          <p:nvPr/>
        </p:nvSpPr>
        <p:spPr>
          <a:xfrm>
            <a:off x="10332720" y="13533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Hexagon 28"/>
          <p:cNvSpPr/>
          <p:nvPr/>
        </p:nvSpPr>
        <p:spPr>
          <a:xfrm>
            <a:off x="10332720" y="205282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Hexagon 29"/>
          <p:cNvSpPr/>
          <p:nvPr/>
        </p:nvSpPr>
        <p:spPr>
          <a:xfrm>
            <a:off x="10332720" y="275234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Hexagon 30"/>
          <p:cNvSpPr/>
          <p:nvPr/>
        </p:nvSpPr>
        <p:spPr>
          <a:xfrm>
            <a:off x="10332720" y="345186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Hexagon 31"/>
          <p:cNvSpPr/>
          <p:nvPr/>
        </p:nvSpPr>
        <p:spPr>
          <a:xfrm>
            <a:off x="10332720" y="415137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Hexagon 32"/>
          <p:cNvSpPr/>
          <p:nvPr/>
        </p:nvSpPr>
        <p:spPr>
          <a:xfrm>
            <a:off x="10332720" y="485089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Hexagon 33"/>
          <p:cNvSpPr/>
          <p:nvPr/>
        </p:nvSpPr>
        <p:spPr>
          <a:xfrm>
            <a:off x="10881360" y="-45720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Hexagon 34"/>
          <p:cNvSpPr/>
          <p:nvPr/>
        </p:nvSpPr>
        <p:spPr>
          <a:xfrm>
            <a:off x="10881360" y="24231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Hexagon 35"/>
          <p:cNvSpPr/>
          <p:nvPr/>
        </p:nvSpPr>
        <p:spPr>
          <a:xfrm>
            <a:off x="10881360" y="94183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Hexagon 36"/>
          <p:cNvSpPr/>
          <p:nvPr/>
        </p:nvSpPr>
        <p:spPr>
          <a:xfrm>
            <a:off x="10881360" y="164134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Hexagon 37"/>
          <p:cNvSpPr/>
          <p:nvPr/>
        </p:nvSpPr>
        <p:spPr>
          <a:xfrm>
            <a:off x="10881360" y="234086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Hexagon 38"/>
          <p:cNvSpPr/>
          <p:nvPr/>
        </p:nvSpPr>
        <p:spPr>
          <a:xfrm>
            <a:off x="10881360" y="304037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Hexagon 39"/>
          <p:cNvSpPr/>
          <p:nvPr/>
        </p:nvSpPr>
        <p:spPr>
          <a:xfrm>
            <a:off x="10881360" y="37398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Hexagon 40"/>
          <p:cNvSpPr/>
          <p:nvPr/>
        </p:nvSpPr>
        <p:spPr>
          <a:xfrm>
            <a:off x="10881360" y="44394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1520" y="320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2A9D8F"/>
                </a:solidFill>
                <a:latin typeface="Calibri"/>
              </a:defRPr>
            </a:pPr>
            <a:r>
              <a:t>CLOSING THE LOOP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31520" y="640080"/>
            <a:ext cx="731520" cy="381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7772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600" b="1">
                <a:solidFill>
                  <a:srgbClr val="2C3E50"/>
                </a:solidFill>
                <a:latin typeface="Calibri"/>
              </a:defRPr>
            </a:pPr>
            <a:r>
              <a:t>Follow-Up Queue, Outreach &amp; Escalation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4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31520" y="651052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546E7A"/>
                </a:solidFill>
                <a:latin typeface="Calibri"/>
              </a:defRPr>
            </a:pPr>
            <a:r>
              <a:t>Mr. Mayur More  |  Team Krishna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14800" y="6510528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0A4AE"/>
                </a:solidFill>
                <a:latin typeface="Calibri"/>
              </a:defRPr>
            </a:pPr>
            <a:r>
              <a:t>CancerCare 360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15600" y="651052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100" b="0">
                <a:solidFill>
                  <a:srgbClr val="90A4AE"/>
                </a:solidFill>
                <a:latin typeface="Calibri"/>
              </a:defRPr>
            </a:pPr>
            <a:r>
              <a:t>7 / 13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65760" y="1325880"/>
            <a:ext cx="365760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65760" y="1325880"/>
            <a:ext cx="3657600" cy="762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8640" y="150876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9D8F"/>
                </a:solidFill>
                <a:latin typeface="Calibri"/>
              </a:defRPr>
            </a:pPr>
            <a:r>
              <a:t>Priority Task Queue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8640" y="2057400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A9D8F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77240" y="205740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Auto-generated from care gap detection engine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8640" y="2743200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A9D8F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77240" y="274320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Priority badges: CRITICAL, HIGH, MEDIUM, LOW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8640" y="3429000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A9D8F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7240" y="342900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Assigned to specific care coordinators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48640" y="4114800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A9D8F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77240" y="411480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Due date tracking with overdue alerts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48640" y="4800600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A9D8F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77240" y="480060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6 contextual actions per task: Screen Barrier, Recover Slot, Escalate, Log Outreach, AI Explain, Resolve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48640" y="5486400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A9D8F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7240" y="548640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One-click task resolution and dismissal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206240" y="1325880"/>
            <a:ext cx="365760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206240" y="1325880"/>
            <a:ext cx="3657600" cy="76200"/>
          </a:xfrm>
          <a:prstGeom prst="rect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389120" y="150876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457B9D"/>
                </a:solidFill>
                <a:latin typeface="Calibri"/>
              </a:defRPr>
            </a:pPr>
            <a:r>
              <a:t>Multi-Channel Outreach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389120" y="2057400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457B9D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617720" y="205740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Log every contact attempt: Phone, SMS, WhatsApp, In-person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389120" y="2743200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457B9D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617720" y="274320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Record outreach outcomes (reached, voicemail, unreachable)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389120" y="3429000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457B9D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617720" y="342900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Track attempt count per patient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389120" y="4114800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457B9D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617720" y="411480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Campaign engine for bulk outreach (screening reminders, chemo guides)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389120" y="4800600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457B9D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617720" y="480060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Delivery tracking with audience segmentation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389120" y="5486400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457B9D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617720" y="548640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Stalled outreach auto-flagged after 2 failed attempts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8046720" y="1325880"/>
            <a:ext cx="365760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8046720" y="1325880"/>
            <a:ext cx="3657600" cy="762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229600" y="150876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F4A261"/>
                </a:solidFill>
                <a:latin typeface="Calibri"/>
              </a:defRPr>
            </a:pPr>
            <a:r>
              <a:t>Escalation &amp; Handoff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229600" y="2057400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4A261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458200" y="205740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Clinical task delegation between Coordinator, Oncology Nurse, Treating Oncologist, Social Worker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29600" y="2743200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4A261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458200" y="274320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Full audit trail with escalation rationale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229600" y="3429000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4A261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458200" y="342900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5-stage Patient Status Board (Clinical Kanban): Gap Detected → Outreach → Barrier → Escalated → Recovered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229600" y="4114800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4A261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458200" y="411480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Toggle between table view and Kanban board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229600" y="4800600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4A261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458200" y="480060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Real-time metrics: Critical Count, Overdue, Due Today, Recovered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xagon 1"/>
          <p:cNvSpPr/>
          <p:nvPr/>
        </p:nvSpPr>
        <p:spPr>
          <a:xfrm>
            <a:off x="8686800" y="-45720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exagon 2"/>
          <p:cNvSpPr/>
          <p:nvPr/>
        </p:nvSpPr>
        <p:spPr>
          <a:xfrm>
            <a:off x="8686800" y="24231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xagon 3"/>
          <p:cNvSpPr/>
          <p:nvPr/>
        </p:nvSpPr>
        <p:spPr>
          <a:xfrm>
            <a:off x="8686800" y="94183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Hexagon 4"/>
          <p:cNvSpPr/>
          <p:nvPr/>
        </p:nvSpPr>
        <p:spPr>
          <a:xfrm>
            <a:off x="8686800" y="164134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Hexagon 5"/>
          <p:cNvSpPr/>
          <p:nvPr/>
        </p:nvSpPr>
        <p:spPr>
          <a:xfrm>
            <a:off x="8686800" y="234086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exagon 6"/>
          <p:cNvSpPr/>
          <p:nvPr/>
        </p:nvSpPr>
        <p:spPr>
          <a:xfrm>
            <a:off x="8686800" y="304037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exagon 7"/>
          <p:cNvSpPr/>
          <p:nvPr/>
        </p:nvSpPr>
        <p:spPr>
          <a:xfrm>
            <a:off x="8686800" y="37398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Hexagon 8"/>
          <p:cNvSpPr/>
          <p:nvPr/>
        </p:nvSpPr>
        <p:spPr>
          <a:xfrm>
            <a:off x="8686800" y="44394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Hexagon 9"/>
          <p:cNvSpPr/>
          <p:nvPr/>
        </p:nvSpPr>
        <p:spPr>
          <a:xfrm>
            <a:off x="9235440" y="-4571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exagon 10"/>
          <p:cNvSpPr/>
          <p:nvPr/>
        </p:nvSpPr>
        <p:spPr>
          <a:xfrm>
            <a:off x="9235440" y="6537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Hexagon 11"/>
          <p:cNvSpPr/>
          <p:nvPr/>
        </p:nvSpPr>
        <p:spPr>
          <a:xfrm>
            <a:off x="9235440" y="13533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Hexagon 12"/>
          <p:cNvSpPr/>
          <p:nvPr/>
        </p:nvSpPr>
        <p:spPr>
          <a:xfrm>
            <a:off x="9235440" y="205282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Hexagon 13"/>
          <p:cNvSpPr/>
          <p:nvPr/>
        </p:nvSpPr>
        <p:spPr>
          <a:xfrm>
            <a:off x="9235440" y="275234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Hexagon 14"/>
          <p:cNvSpPr/>
          <p:nvPr/>
        </p:nvSpPr>
        <p:spPr>
          <a:xfrm>
            <a:off x="9235440" y="345186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Hexagon 15"/>
          <p:cNvSpPr/>
          <p:nvPr/>
        </p:nvSpPr>
        <p:spPr>
          <a:xfrm>
            <a:off x="9235440" y="415137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Hexagon 16"/>
          <p:cNvSpPr/>
          <p:nvPr/>
        </p:nvSpPr>
        <p:spPr>
          <a:xfrm>
            <a:off x="9235440" y="485089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exagon 17"/>
          <p:cNvSpPr/>
          <p:nvPr/>
        </p:nvSpPr>
        <p:spPr>
          <a:xfrm>
            <a:off x="9784080" y="-45720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Hexagon 18"/>
          <p:cNvSpPr/>
          <p:nvPr/>
        </p:nvSpPr>
        <p:spPr>
          <a:xfrm>
            <a:off x="9784080" y="24231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Hexagon 19"/>
          <p:cNvSpPr/>
          <p:nvPr/>
        </p:nvSpPr>
        <p:spPr>
          <a:xfrm>
            <a:off x="9784080" y="94183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Hexagon 20"/>
          <p:cNvSpPr/>
          <p:nvPr/>
        </p:nvSpPr>
        <p:spPr>
          <a:xfrm>
            <a:off x="9784080" y="164134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Hexagon 21"/>
          <p:cNvSpPr/>
          <p:nvPr/>
        </p:nvSpPr>
        <p:spPr>
          <a:xfrm>
            <a:off x="9784080" y="234086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Hexagon 22"/>
          <p:cNvSpPr/>
          <p:nvPr/>
        </p:nvSpPr>
        <p:spPr>
          <a:xfrm>
            <a:off x="9784080" y="304037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Hexagon 23"/>
          <p:cNvSpPr/>
          <p:nvPr/>
        </p:nvSpPr>
        <p:spPr>
          <a:xfrm>
            <a:off x="9784080" y="37398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Hexagon 24"/>
          <p:cNvSpPr/>
          <p:nvPr/>
        </p:nvSpPr>
        <p:spPr>
          <a:xfrm>
            <a:off x="9784080" y="44394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Hexagon 25"/>
          <p:cNvSpPr/>
          <p:nvPr/>
        </p:nvSpPr>
        <p:spPr>
          <a:xfrm>
            <a:off x="10332720" y="-4571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Hexagon 26"/>
          <p:cNvSpPr/>
          <p:nvPr/>
        </p:nvSpPr>
        <p:spPr>
          <a:xfrm>
            <a:off x="10332720" y="6537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Hexagon 27"/>
          <p:cNvSpPr/>
          <p:nvPr/>
        </p:nvSpPr>
        <p:spPr>
          <a:xfrm>
            <a:off x="10332720" y="13533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Hexagon 28"/>
          <p:cNvSpPr/>
          <p:nvPr/>
        </p:nvSpPr>
        <p:spPr>
          <a:xfrm>
            <a:off x="10332720" y="205282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Hexagon 29"/>
          <p:cNvSpPr/>
          <p:nvPr/>
        </p:nvSpPr>
        <p:spPr>
          <a:xfrm>
            <a:off x="10332720" y="275234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Hexagon 30"/>
          <p:cNvSpPr/>
          <p:nvPr/>
        </p:nvSpPr>
        <p:spPr>
          <a:xfrm>
            <a:off x="10332720" y="345186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Hexagon 31"/>
          <p:cNvSpPr/>
          <p:nvPr/>
        </p:nvSpPr>
        <p:spPr>
          <a:xfrm>
            <a:off x="10332720" y="415137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Hexagon 32"/>
          <p:cNvSpPr/>
          <p:nvPr/>
        </p:nvSpPr>
        <p:spPr>
          <a:xfrm>
            <a:off x="10332720" y="485089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Hexagon 33"/>
          <p:cNvSpPr/>
          <p:nvPr/>
        </p:nvSpPr>
        <p:spPr>
          <a:xfrm>
            <a:off x="10881360" y="-45720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Hexagon 34"/>
          <p:cNvSpPr/>
          <p:nvPr/>
        </p:nvSpPr>
        <p:spPr>
          <a:xfrm>
            <a:off x="10881360" y="24231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Hexagon 35"/>
          <p:cNvSpPr/>
          <p:nvPr/>
        </p:nvSpPr>
        <p:spPr>
          <a:xfrm>
            <a:off x="10881360" y="94183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Hexagon 36"/>
          <p:cNvSpPr/>
          <p:nvPr/>
        </p:nvSpPr>
        <p:spPr>
          <a:xfrm>
            <a:off x="10881360" y="164134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Hexagon 37"/>
          <p:cNvSpPr/>
          <p:nvPr/>
        </p:nvSpPr>
        <p:spPr>
          <a:xfrm>
            <a:off x="10881360" y="234086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Hexagon 38"/>
          <p:cNvSpPr/>
          <p:nvPr/>
        </p:nvSpPr>
        <p:spPr>
          <a:xfrm>
            <a:off x="10881360" y="304037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Hexagon 39"/>
          <p:cNvSpPr/>
          <p:nvPr/>
        </p:nvSpPr>
        <p:spPr>
          <a:xfrm>
            <a:off x="10881360" y="37398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Hexagon 40"/>
          <p:cNvSpPr/>
          <p:nvPr/>
        </p:nvSpPr>
        <p:spPr>
          <a:xfrm>
            <a:off x="10881360" y="44394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1520" y="320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2A9D8F"/>
                </a:solidFill>
                <a:latin typeface="Calibri"/>
              </a:defRPr>
            </a:pPr>
            <a:r>
              <a:t>NAVIGATION &amp; RECOVERY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31520" y="640080"/>
            <a:ext cx="731520" cy="381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7772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600" b="1">
                <a:solidFill>
                  <a:srgbClr val="2C3E50"/>
                </a:solidFill>
                <a:latin typeface="Calibri"/>
              </a:defRPr>
            </a:pPr>
            <a:r>
              <a:t>Barrier Assessment &amp; Closed-Loop Appointment Recovery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4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31520" y="651052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546E7A"/>
                </a:solidFill>
                <a:latin typeface="Calibri"/>
              </a:defRPr>
            </a:pPr>
            <a:r>
              <a:t>Mr. Mayur More  |  Team Krishna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14800" y="6510528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0A4AE"/>
                </a:solidFill>
                <a:latin typeface="Calibri"/>
              </a:defRPr>
            </a:pPr>
            <a:r>
              <a:t>CancerCare 360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15600" y="651052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100" b="0">
                <a:solidFill>
                  <a:srgbClr val="90A4AE"/>
                </a:solidFill>
                <a:latin typeface="Calibri"/>
              </a:defRPr>
            </a:pPr>
            <a:r>
              <a:t>8 / 13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48640" y="1371600"/>
            <a:ext cx="539496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48640" y="1371600"/>
            <a:ext cx="5394960" cy="762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22960" y="155448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F4A261"/>
                </a:solidFill>
                <a:latin typeface="Calibri"/>
              </a:defRPr>
            </a:pPr>
            <a:r>
              <a:t>Barrier Identification &amp; Navigation</a:t>
            </a:r>
          </a:p>
        </p:txBody>
      </p:sp>
      <p:sp>
        <p:nvSpPr>
          <p:cNvPr id="53" name="Oval 52"/>
          <p:cNvSpPr/>
          <p:nvPr/>
        </p:nvSpPr>
        <p:spPr>
          <a:xfrm>
            <a:off x="868680" y="2057400"/>
            <a:ext cx="164592" cy="164592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43000" y="1993392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C3E50"/>
                </a:solidFill>
                <a:latin typeface="Calibri"/>
              </a:defRPr>
            </a:pPr>
            <a:r>
              <a:t>Transportation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43000" y="224028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Distance, lack of transport, rural isolation</a:t>
            </a:r>
          </a:p>
        </p:txBody>
      </p:sp>
      <p:sp>
        <p:nvSpPr>
          <p:cNvPr id="56" name="Oval 55"/>
          <p:cNvSpPr/>
          <p:nvPr/>
        </p:nvSpPr>
        <p:spPr>
          <a:xfrm>
            <a:off x="868680" y="2715768"/>
            <a:ext cx="164592" cy="164592"/>
          </a:xfrm>
          <a:prstGeom prst="ellipse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43000" y="265176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C3E50"/>
                </a:solidFill>
                <a:latin typeface="Calibri"/>
              </a:defRPr>
            </a:pPr>
            <a:r>
              <a:t>Financial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43000" y="2898648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Cannot afford treatment, insurance gaps, loss of income</a:t>
            </a:r>
          </a:p>
        </p:txBody>
      </p:sp>
      <p:sp>
        <p:nvSpPr>
          <p:cNvPr id="59" name="Oval 58"/>
          <p:cNvSpPr/>
          <p:nvPr/>
        </p:nvSpPr>
        <p:spPr>
          <a:xfrm>
            <a:off x="868680" y="3374136"/>
            <a:ext cx="164592" cy="164592"/>
          </a:xfrm>
          <a:prstGeom prst="ellipse">
            <a:avLst/>
          </a:prstGeom>
          <a:solidFill>
            <a:srgbClr val="8B6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143000" y="3310128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C3E50"/>
                </a:solidFill>
                <a:latin typeface="Calibri"/>
              </a:defRPr>
            </a:pPr>
            <a:r>
              <a:t>Psycho-social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43000" y="3557016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Fear, anxiety, depression, treatment fatigue</a:t>
            </a:r>
          </a:p>
        </p:txBody>
      </p:sp>
      <p:sp>
        <p:nvSpPr>
          <p:cNvPr id="62" name="Oval 61"/>
          <p:cNvSpPr/>
          <p:nvPr/>
        </p:nvSpPr>
        <p:spPr>
          <a:xfrm>
            <a:off x="868680" y="4032504"/>
            <a:ext cx="164592" cy="164592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143000" y="3968496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C3E50"/>
                </a:solidFill>
                <a:latin typeface="Calibri"/>
              </a:defRPr>
            </a:pPr>
            <a:r>
              <a:t>Family / Caregiver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43000" y="4215384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No caregiver support, family resistance, child care needs</a:t>
            </a:r>
          </a:p>
        </p:txBody>
      </p:sp>
      <p:sp>
        <p:nvSpPr>
          <p:cNvPr id="65" name="Oval 64"/>
          <p:cNvSpPr/>
          <p:nvPr/>
        </p:nvSpPr>
        <p:spPr>
          <a:xfrm>
            <a:off x="868680" y="4690872"/>
            <a:ext cx="164592" cy="164592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143000" y="4626864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C3E50"/>
                </a:solidFill>
                <a:latin typeface="Calibri"/>
              </a:defRPr>
            </a:pPr>
            <a:r>
              <a:t>Medical / Toxicities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43000" y="4873752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Side effects, comorbidities preventing attendance</a:t>
            </a:r>
          </a:p>
        </p:txBody>
      </p:sp>
      <p:sp>
        <p:nvSpPr>
          <p:cNvPr id="68" name="Oval 67"/>
          <p:cNvSpPr/>
          <p:nvPr/>
        </p:nvSpPr>
        <p:spPr>
          <a:xfrm>
            <a:off x="868680" y="5349240"/>
            <a:ext cx="164592" cy="164592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143000" y="5285232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C3E50"/>
                </a:solidFill>
                <a:latin typeface="Calibri"/>
              </a:defRPr>
            </a:pPr>
            <a:r>
              <a:t>Hospital Bottleneck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43000" y="553212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Pathology backlog, bed scarcity, radiology queue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126480" y="1371600"/>
            <a:ext cx="539496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126480" y="1371600"/>
            <a:ext cx="5394960" cy="76200"/>
          </a:xfrm>
          <a:prstGeom prst="rect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400800" y="155448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457B9D"/>
                </a:solidFill>
                <a:latin typeface="Calibri"/>
              </a:defRPr>
            </a:pPr>
            <a:r>
              <a:t>Closed-Loop Appointment Recovery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400800" y="192024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546E7A"/>
                </a:solidFill>
                <a:latin typeface="Calibri"/>
              </a:defRPr>
            </a:pPr>
            <a:r>
              <a:t>Unlike generic hospital CRMs that merely log calls, CancerCare 360 closes the loop automatically: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400800" y="2468880"/>
            <a:ext cx="484632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92240" y="2542032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E76F51"/>
                </a:solidFill>
                <a:latin typeface="Calibri"/>
              </a:defRPr>
            </a:pPr>
            <a:r>
              <a:t>Step 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132320" y="2542032"/>
            <a:ext cx="4023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Care gap detected by the 9-scenario engine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400800" y="2971800"/>
            <a:ext cx="484632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492240" y="3044952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F4A261"/>
                </a:solidFill>
                <a:latin typeface="Calibri"/>
              </a:defRPr>
            </a:pPr>
            <a:r>
              <a:t>Step 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132320" y="3044952"/>
            <a:ext cx="4023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Follow-up task created &amp; assigned to coordinator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400800" y="3474720"/>
            <a:ext cx="484632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492240" y="3547872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457B9D"/>
                </a:solidFill>
                <a:latin typeface="Calibri"/>
              </a:defRPr>
            </a:pPr>
            <a:r>
              <a:t>Step 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132320" y="3547872"/>
            <a:ext cx="4023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Outreach logged (phone/SMS/WhatsApp)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400800" y="3977640"/>
            <a:ext cx="484632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492240" y="4050792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8B6BC4"/>
                </a:solidFill>
                <a:latin typeface="Calibri"/>
              </a:defRPr>
            </a:pPr>
            <a:r>
              <a:t>Step 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132320" y="4050792"/>
            <a:ext cx="4023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Barrier identified and screened (if any)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400800" y="4480560"/>
            <a:ext cx="484632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492240" y="4553712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2A9D8F"/>
                </a:solidFill>
                <a:latin typeface="Calibri"/>
              </a:defRPr>
            </a:pPr>
            <a:r>
              <a:t>Step 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132320" y="4553712"/>
            <a:ext cx="4023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Replacement appointment booked via Recovery Modal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400800" y="4983480"/>
            <a:ext cx="484632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492240" y="5056632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2A9D8F"/>
                </a:solidFill>
                <a:latin typeface="Calibri"/>
              </a:defRPr>
            </a:pPr>
            <a:r>
              <a:t>Step 6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132320" y="5056632"/>
            <a:ext cx="4023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Patient status auto-transitions to RE_ENGAGED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6400800" y="5486400"/>
            <a:ext cx="484632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492240" y="5559552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2A9D8F"/>
                </a:solidFill>
                <a:latin typeface="Calibri"/>
              </a:defRPr>
            </a:pPr>
            <a:r>
              <a:t>Step 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132320" y="5559552"/>
            <a:ext cx="4023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Care gap task auto-resolved, barrier auto-closed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xagon 1"/>
          <p:cNvSpPr/>
          <p:nvPr/>
        </p:nvSpPr>
        <p:spPr>
          <a:xfrm>
            <a:off x="8686800" y="-45720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exagon 2"/>
          <p:cNvSpPr/>
          <p:nvPr/>
        </p:nvSpPr>
        <p:spPr>
          <a:xfrm>
            <a:off x="8686800" y="24231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xagon 3"/>
          <p:cNvSpPr/>
          <p:nvPr/>
        </p:nvSpPr>
        <p:spPr>
          <a:xfrm>
            <a:off x="8686800" y="94183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Hexagon 4"/>
          <p:cNvSpPr/>
          <p:nvPr/>
        </p:nvSpPr>
        <p:spPr>
          <a:xfrm>
            <a:off x="8686800" y="164134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Hexagon 5"/>
          <p:cNvSpPr/>
          <p:nvPr/>
        </p:nvSpPr>
        <p:spPr>
          <a:xfrm>
            <a:off x="8686800" y="234086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exagon 6"/>
          <p:cNvSpPr/>
          <p:nvPr/>
        </p:nvSpPr>
        <p:spPr>
          <a:xfrm>
            <a:off x="8686800" y="304037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exagon 7"/>
          <p:cNvSpPr/>
          <p:nvPr/>
        </p:nvSpPr>
        <p:spPr>
          <a:xfrm>
            <a:off x="8686800" y="37398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Hexagon 8"/>
          <p:cNvSpPr/>
          <p:nvPr/>
        </p:nvSpPr>
        <p:spPr>
          <a:xfrm>
            <a:off x="8686800" y="44394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Hexagon 9"/>
          <p:cNvSpPr/>
          <p:nvPr/>
        </p:nvSpPr>
        <p:spPr>
          <a:xfrm>
            <a:off x="9235440" y="-4571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exagon 10"/>
          <p:cNvSpPr/>
          <p:nvPr/>
        </p:nvSpPr>
        <p:spPr>
          <a:xfrm>
            <a:off x="9235440" y="6537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Hexagon 11"/>
          <p:cNvSpPr/>
          <p:nvPr/>
        </p:nvSpPr>
        <p:spPr>
          <a:xfrm>
            <a:off x="9235440" y="13533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Hexagon 12"/>
          <p:cNvSpPr/>
          <p:nvPr/>
        </p:nvSpPr>
        <p:spPr>
          <a:xfrm>
            <a:off x="9235440" y="205282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Hexagon 13"/>
          <p:cNvSpPr/>
          <p:nvPr/>
        </p:nvSpPr>
        <p:spPr>
          <a:xfrm>
            <a:off x="9235440" y="275234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Hexagon 14"/>
          <p:cNvSpPr/>
          <p:nvPr/>
        </p:nvSpPr>
        <p:spPr>
          <a:xfrm>
            <a:off x="9235440" y="345186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Hexagon 15"/>
          <p:cNvSpPr/>
          <p:nvPr/>
        </p:nvSpPr>
        <p:spPr>
          <a:xfrm>
            <a:off x="9235440" y="415137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Hexagon 16"/>
          <p:cNvSpPr/>
          <p:nvPr/>
        </p:nvSpPr>
        <p:spPr>
          <a:xfrm>
            <a:off x="9235440" y="485089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exagon 17"/>
          <p:cNvSpPr/>
          <p:nvPr/>
        </p:nvSpPr>
        <p:spPr>
          <a:xfrm>
            <a:off x="9784080" y="-45720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Hexagon 18"/>
          <p:cNvSpPr/>
          <p:nvPr/>
        </p:nvSpPr>
        <p:spPr>
          <a:xfrm>
            <a:off x="9784080" y="24231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Hexagon 19"/>
          <p:cNvSpPr/>
          <p:nvPr/>
        </p:nvSpPr>
        <p:spPr>
          <a:xfrm>
            <a:off x="9784080" y="94183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Hexagon 20"/>
          <p:cNvSpPr/>
          <p:nvPr/>
        </p:nvSpPr>
        <p:spPr>
          <a:xfrm>
            <a:off x="9784080" y="164134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Hexagon 21"/>
          <p:cNvSpPr/>
          <p:nvPr/>
        </p:nvSpPr>
        <p:spPr>
          <a:xfrm>
            <a:off x="9784080" y="234086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Hexagon 22"/>
          <p:cNvSpPr/>
          <p:nvPr/>
        </p:nvSpPr>
        <p:spPr>
          <a:xfrm>
            <a:off x="9784080" y="304037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Hexagon 23"/>
          <p:cNvSpPr/>
          <p:nvPr/>
        </p:nvSpPr>
        <p:spPr>
          <a:xfrm>
            <a:off x="9784080" y="37398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Hexagon 24"/>
          <p:cNvSpPr/>
          <p:nvPr/>
        </p:nvSpPr>
        <p:spPr>
          <a:xfrm>
            <a:off x="9784080" y="44394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Hexagon 25"/>
          <p:cNvSpPr/>
          <p:nvPr/>
        </p:nvSpPr>
        <p:spPr>
          <a:xfrm>
            <a:off x="10332720" y="-4571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Hexagon 26"/>
          <p:cNvSpPr/>
          <p:nvPr/>
        </p:nvSpPr>
        <p:spPr>
          <a:xfrm>
            <a:off x="10332720" y="6537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Hexagon 27"/>
          <p:cNvSpPr/>
          <p:nvPr/>
        </p:nvSpPr>
        <p:spPr>
          <a:xfrm>
            <a:off x="10332720" y="13533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Hexagon 28"/>
          <p:cNvSpPr/>
          <p:nvPr/>
        </p:nvSpPr>
        <p:spPr>
          <a:xfrm>
            <a:off x="10332720" y="205282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Hexagon 29"/>
          <p:cNvSpPr/>
          <p:nvPr/>
        </p:nvSpPr>
        <p:spPr>
          <a:xfrm>
            <a:off x="10332720" y="275234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Hexagon 30"/>
          <p:cNvSpPr/>
          <p:nvPr/>
        </p:nvSpPr>
        <p:spPr>
          <a:xfrm>
            <a:off x="10332720" y="345186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Hexagon 31"/>
          <p:cNvSpPr/>
          <p:nvPr/>
        </p:nvSpPr>
        <p:spPr>
          <a:xfrm>
            <a:off x="10332720" y="415137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Hexagon 32"/>
          <p:cNvSpPr/>
          <p:nvPr/>
        </p:nvSpPr>
        <p:spPr>
          <a:xfrm>
            <a:off x="10332720" y="485089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Hexagon 33"/>
          <p:cNvSpPr/>
          <p:nvPr/>
        </p:nvSpPr>
        <p:spPr>
          <a:xfrm>
            <a:off x="10881360" y="-45720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Hexagon 34"/>
          <p:cNvSpPr/>
          <p:nvPr/>
        </p:nvSpPr>
        <p:spPr>
          <a:xfrm>
            <a:off x="10881360" y="24231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Hexagon 35"/>
          <p:cNvSpPr/>
          <p:nvPr/>
        </p:nvSpPr>
        <p:spPr>
          <a:xfrm>
            <a:off x="10881360" y="94183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Hexagon 36"/>
          <p:cNvSpPr/>
          <p:nvPr/>
        </p:nvSpPr>
        <p:spPr>
          <a:xfrm>
            <a:off x="10881360" y="164134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Hexagon 37"/>
          <p:cNvSpPr/>
          <p:nvPr/>
        </p:nvSpPr>
        <p:spPr>
          <a:xfrm>
            <a:off x="10881360" y="234086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Hexagon 38"/>
          <p:cNvSpPr/>
          <p:nvPr/>
        </p:nvSpPr>
        <p:spPr>
          <a:xfrm>
            <a:off x="10881360" y="304037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Hexagon 39"/>
          <p:cNvSpPr/>
          <p:nvPr/>
        </p:nvSpPr>
        <p:spPr>
          <a:xfrm>
            <a:off x="10881360" y="37398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Hexagon 40"/>
          <p:cNvSpPr/>
          <p:nvPr/>
        </p:nvSpPr>
        <p:spPr>
          <a:xfrm>
            <a:off x="10881360" y="44394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1520" y="320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2A9D8F"/>
                </a:solidFill>
                <a:latin typeface="Calibri"/>
              </a:defRPr>
            </a:pPr>
            <a:r>
              <a:t>SUPPORTING MODULES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31520" y="640080"/>
            <a:ext cx="731520" cy="381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7772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600" b="1">
                <a:solidFill>
                  <a:srgbClr val="2C3E50"/>
                </a:solidFill>
                <a:latin typeface="Calibri"/>
              </a:defRPr>
            </a:pPr>
            <a:r>
              <a:t>Clinical Briefings, SLAs &amp; Document Intelligence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4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31520" y="651052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546E7A"/>
                </a:solidFill>
                <a:latin typeface="Calibri"/>
              </a:defRPr>
            </a:pPr>
            <a:r>
              <a:t>Mr. Mayur More  |  Team Krishna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14800" y="6510528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0A4AE"/>
                </a:solidFill>
                <a:latin typeface="Calibri"/>
              </a:defRPr>
            </a:pPr>
            <a:r>
              <a:t>CancerCare 360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15600" y="651052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100" b="0">
                <a:solidFill>
                  <a:srgbClr val="90A4AE"/>
                </a:solidFill>
                <a:latin typeface="Calibri"/>
              </a:defRPr>
            </a:pPr>
            <a:r>
              <a:t>9 / 13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48640" y="1371600"/>
            <a:ext cx="539496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48640" y="1371600"/>
            <a:ext cx="5394960" cy="76200"/>
          </a:xfrm>
          <a:prstGeom prst="rect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22960" y="155448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457B9D"/>
                </a:solidFill>
                <a:latin typeface="Calibri"/>
              </a:defRPr>
            </a:pPr>
            <a:r>
              <a:t>Investigation &amp; SLA Monitoring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2960" y="1920240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457B9D"/>
                </a:solidFill>
                <a:latin typeface="Calibri"/>
              </a:defRPr>
            </a:pPr>
            <a:r>
              <a:t>Modality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114800" y="192024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100" b="1">
                <a:solidFill>
                  <a:srgbClr val="457B9D"/>
                </a:solidFill>
                <a:latin typeface="Calibri"/>
              </a:defRPr>
            </a:pPr>
            <a:r>
              <a:t>SLA Target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22960" y="2148840"/>
            <a:ext cx="4846320" cy="12700"/>
          </a:xfrm>
          <a:prstGeom prst="rect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22960" y="2276856"/>
            <a:ext cx="2926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2C3E50"/>
                </a:solidFill>
                <a:latin typeface="Calibri"/>
              </a:defRPr>
            </a:pPr>
            <a:r>
              <a:t>CBC STAT (Pre-Chemo)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114800" y="2276856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100" b="1">
                <a:solidFill>
                  <a:srgbClr val="546E7A"/>
                </a:solidFill>
                <a:latin typeface="Calibri"/>
              </a:defRPr>
            </a:pPr>
            <a:r>
              <a:t>1 Hour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2960" y="2624328"/>
            <a:ext cx="2926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2C3E50"/>
                </a:solidFill>
                <a:latin typeface="Calibri"/>
              </a:defRPr>
            </a:pPr>
            <a:r>
              <a:t>Routine CBC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114800" y="2624328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100" b="1">
                <a:solidFill>
                  <a:srgbClr val="546E7A"/>
                </a:solidFill>
                <a:latin typeface="Calibri"/>
              </a:defRPr>
            </a:pPr>
            <a:r>
              <a:t>4 Hours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2960" y="2971800"/>
            <a:ext cx="2926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2C3E50"/>
                </a:solidFill>
                <a:latin typeface="Calibri"/>
              </a:defRPr>
            </a:pPr>
            <a:r>
              <a:t>Serum Creatinine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114800" y="29718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100" b="1">
                <a:solidFill>
                  <a:srgbClr val="546E7A"/>
                </a:solidFill>
                <a:latin typeface="Calibri"/>
              </a:defRPr>
            </a:pPr>
            <a:r>
              <a:t>4 Hours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2960" y="3319272"/>
            <a:ext cx="2926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2C3E50"/>
                </a:solidFill>
                <a:latin typeface="Calibri"/>
              </a:defRPr>
            </a:pPr>
            <a:r>
              <a:t>Liver Function Panel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114800" y="3319272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100" b="1">
                <a:solidFill>
                  <a:srgbClr val="546E7A"/>
                </a:solidFill>
                <a:latin typeface="Calibri"/>
              </a:defRPr>
            </a:pPr>
            <a:r>
              <a:t>6 Hours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2960" y="3666744"/>
            <a:ext cx="2926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2C3E50"/>
                </a:solidFill>
                <a:latin typeface="Calibri"/>
              </a:defRPr>
            </a:pPr>
            <a:r>
              <a:t>Tumor Markers (CEA/CA-125)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114800" y="3666744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100" b="1">
                <a:solidFill>
                  <a:srgbClr val="546E7A"/>
                </a:solidFill>
                <a:latin typeface="Calibri"/>
              </a:defRPr>
            </a:pPr>
            <a:r>
              <a:t>24 Hours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22960" y="4014216"/>
            <a:ext cx="2926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2C3E50"/>
                </a:solidFill>
                <a:latin typeface="Calibri"/>
              </a:defRPr>
            </a:pPr>
            <a:r>
              <a:t>CT / MRI Staging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114800" y="4014216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100" b="1">
                <a:solidFill>
                  <a:srgbClr val="546E7A"/>
                </a:solidFill>
                <a:latin typeface="Calibri"/>
              </a:defRPr>
            </a:pPr>
            <a:r>
              <a:t>48 Hours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2960" y="4361688"/>
            <a:ext cx="2926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2C3E50"/>
                </a:solidFill>
                <a:latin typeface="Calibri"/>
              </a:defRPr>
            </a:pPr>
            <a:r>
              <a:t>PET-CT (18F-FDG)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114800" y="4361688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100" b="1">
                <a:solidFill>
                  <a:srgbClr val="546E7A"/>
                </a:solidFill>
                <a:latin typeface="Calibri"/>
              </a:defRPr>
            </a:pPr>
            <a:r>
              <a:t>72 Hours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22960" y="4709160"/>
            <a:ext cx="2926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2C3E50"/>
                </a:solidFill>
                <a:latin typeface="Calibri"/>
              </a:defRPr>
            </a:pPr>
            <a:r>
              <a:t>Pathology IHC (ER/PR/HER2)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114800" y="470916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100" b="1">
                <a:solidFill>
                  <a:srgbClr val="546E7A"/>
                </a:solidFill>
                <a:latin typeface="Calibri"/>
              </a:defRPr>
            </a:pPr>
            <a:r>
              <a:t>3 Days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22960" y="5056632"/>
            <a:ext cx="2926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2C3E50"/>
                </a:solidFill>
                <a:latin typeface="Calibri"/>
              </a:defRPr>
            </a:pPr>
            <a:r>
              <a:t>Core Biopsy / Histopath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114800" y="5056632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100" b="1">
                <a:solidFill>
                  <a:srgbClr val="546E7A"/>
                </a:solidFill>
                <a:latin typeface="Calibri"/>
              </a:defRPr>
            </a:pPr>
            <a:r>
              <a:t>5 Days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22960" y="5404104"/>
            <a:ext cx="2926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2C3E50"/>
                </a:solidFill>
                <a:latin typeface="Calibri"/>
              </a:defRPr>
            </a:pPr>
            <a:r>
              <a:t>NGS Genomic Profiling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114800" y="5404104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100" b="1">
                <a:solidFill>
                  <a:srgbClr val="546E7A"/>
                </a:solidFill>
                <a:latin typeface="Calibri"/>
              </a:defRPr>
            </a:pPr>
            <a:r>
              <a:t>14 Days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6126480" y="1371600"/>
            <a:ext cx="53949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26480" y="1371600"/>
            <a:ext cx="5394960" cy="762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400800" y="155448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F4A261"/>
                </a:solidFill>
                <a:latin typeface="Calibri"/>
              </a:defRPr>
            </a:pPr>
            <a:r>
              <a:t>Document Management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400800" y="1920240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4A261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629400" y="1920240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Drag-and-drop upload with patient linking &amp; category tagging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400800" y="2286000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4A261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629400" y="2286000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Categories: Biopsy, Radiology, Lab Report, Discharge Summary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400800" y="2651760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4A261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629400" y="2651760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Virus scan status tracking on every uploaded document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400800" y="3017520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4A261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629400" y="3017520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Clinician verification sign-off workflow (Pending → Verified)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126480" y="3840480"/>
            <a:ext cx="539496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6126480" y="3840480"/>
            <a:ext cx="5394960" cy="76200"/>
          </a:xfrm>
          <a:prstGeom prst="rect">
            <a:avLst/>
          </a:prstGeom>
          <a:solidFill>
            <a:srgbClr val="8B6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400800" y="402336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8B6BC4"/>
                </a:solidFill>
                <a:latin typeface="Calibri"/>
              </a:defRPr>
            </a:pPr>
            <a:r>
              <a:t>AI Clinical Pre-Briefing (§30 Governed)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400800" y="4389120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8B6BC4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629400" y="4389120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AI-generated pre-consultation synthesis before patient encounter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400800" y="4754880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8B6BC4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629400" y="4754880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Missing investigation alerts, critical lab deltas, active gaps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400800" y="5120640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8B6BC4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629400" y="5120640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SHA-256 prompt hashing + confidence scoring + mandatory review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400800" y="5486400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8B6BC4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629400" y="5486400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Non-autonomous guardrails: No auto-diagnosis or auto-staging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400800" y="5852160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8B6BC4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629400" y="5852160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Full audit trail with ACCEPTED/REJECTED/MODIFIED status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xagon 1"/>
          <p:cNvSpPr/>
          <p:nvPr/>
        </p:nvSpPr>
        <p:spPr>
          <a:xfrm>
            <a:off x="8686800" y="-45720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exagon 2"/>
          <p:cNvSpPr/>
          <p:nvPr/>
        </p:nvSpPr>
        <p:spPr>
          <a:xfrm>
            <a:off x="8686800" y="24231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xagon 3"/>
          <p:cNvSpPr/>
          <p:nvPr/>
        </p:nvSpPr>
        <p:spPr>
          <a:xfrm>
            <a:off x="8686800" y="94183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Hexagon 4"/>
          <p:cNvSpPr/>
          <p:nvPr/>
        </p:nvSpPr>
        <p:spPr>
          <a:xfrm>
            <a:off x="8686800" y="164134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Hexagon 5"/>
          <p:cNvSpPr/>
          <p:nvPr/>
        </p:nvSpPr>
        <p:spPr>
          <a:xfrm>
            <a:off x="8686800" y="234086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exagon 6"/>
          <p:cNvSpPr/>
          <p:nvPr/>
        </p:nvSpPr>
        <p:spPr>
          <a:xfrm>
            <a:off x="8686800" y="304037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exagon 7"/>
          <p:cNvSpPr/>
          <p:nvPr/>
        </p:nvSpPr>
        <p:spPr>
          <a:xfrm>
            <a:off x="8686800" y="37398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Hexagon 8"/>
          <p:cNvSpPr/>
          <p:nvPr/>
        </p:nvSpPr>
        <p:spPr>
          <a:xfrm>
            <a:off x="8686800" y="44394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Hexagon 9"/>
          <p:cNvSpPr/>
          <p:nvPr/>
        </p:nvSpPr>
        <p:spPr>
          <a:xfrm>
            <a:off x="9235440" y="-4571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exagon 10"/>
          <p:cNvSpPr/>
          <p:nvPr/>
        </p:nvSpPr>
        <p:spPr>
          <a:xfrm>
            <a:off x="9235440" y="6537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Hexagon 11"/>
          <p:cNvSpPr/>
          <p:nvPr/>
        </p:nvSpPr>
        <p:spPr>
          <a:xfrm>
            <a:off x="9235440" y="13533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Hexagon 12"/>
          <p:cNvSpPr/>
          <p:nvPr/>
        </p:nvSpPr>
        <p:spPr>
          <a:xfrm>
            <a:off x="9235440" y="205282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Hexagon 13"/>
          <p:cNvSpPr/>
          <p:nvPr/>
        </p:nvSpPr>
        <p:spPr>
          <a:xfrm>
            <a:off x="9235440" y="275234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Hexagon 14"/>
          <p:cNvSpPr/>
          <p:nvPr/>
        </p:nvSpPr>
        <p:spPr>
          <a:xfrm>
            <a:off x="9235440" y="345186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Hexagon 15"/>
          <p:cNvSpPr/>
          <p:nvPr/>
        </p:nvSpPr>
        <p:spPr>
          <a:xfrm>
            <a:off x="9235440" y="415137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Hexagon 16"/>
          <p:cNvSpPr/>
          <p:nvPr/>
        </p:nvSpPr>
        <p:spPr>
          <a:xfrm>
            <a:off x="9235440" y="485089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exagon 17"/>
          <p:cNvSpPr/>
          <p:nvPr/>
        </p:nvSpPr>
        <p:spPr>
          <a:xfrm>
            <a:off x="9784080" y="-45720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Hexagon 18"/>
          <p:cNvSpPr/>
          <p:nvPr/>
        </p:nvSpPr>
        <p:spPr>
          <a:xfrm>
            <a:off x="9784080" y="24231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Hexagon 19"/>
          <p:cNvSpPr/>
          <p:nvPr/>
        </p:nvSpPr>
        <p:spPr>
          <a:xfrm>
            <a:off x="9784080" y="94183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Hexagon 20"/>
          <p:cNvSpPr/>
          <p:nvPr/>
        </p:nvSpPr>
        <p:spPr>
          <a:xfrm>
            <a:off x="9784080" y="164134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Hexagon 21"/>
          <p:cNvSpPr/>
          <p:nvPr/>
        </p:nvSpPr>
        <p:spPr>
          <a:xfrm>
            <a:off x="9784080" y="234086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Hexagon 22"/>
          <p:cNvSpPr/>
          <p:nvPr/>
        </p:nvSpPr>
        <p:spPr>
          <a:xfrm>
            <a:off x="9784080" y="304037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Hexagon 23"/>
          <p:cNvSpPr/>
          <p:nvPr/>
        </p:nvSpPr>
        <p:spPr>
          <a:xfrm>
            <a:off x="9784080" y="37398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Hexagon 24"/>
          <p:cNvSpPr/>
          <p:nvPr/>
        </p:nvSpPr>
        <p:spPr>
          <a:xfrm>
            <a:off x="9784080" y="44394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Hexagon 25"/>
          <p:cNvSpPr/>
          <p:nvPr/>
        </p:nvSpPr>
        <p:spPr>
          <a:xfrm>
            <a:off x="10332720" y="-4571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Hexagon 26"/>
          <p:cNvSpPr/>
          <p:nvPr/>
        </p:nvSpPr>
        <p:spPr>
          <a:xfrm>
            <a:off x="10332720" y="6537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Hexagon 27"/>
          <p:cNvSpPr/>
          <p:nvPr/>
        </p:nvSpPr>
        <p:spPr>
          <a:xfrm>
            <a:off x="10332720" y="13533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Hexagon 28"/>
          <p:cNvSpPr/>
          <p:nvPr/>
        </p:nvSpPr>
        <p:spPr>
          <a:xfrm>
            <a:off x="10332720" y="205282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Hexagon 29"/>
          <p:cNvSpPr/>
          <p:nvPr/>
        </p:nvSpPr>
        <p:spPr>
          <a:xfrm>
            <a:off x="10332720" y="275234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Hexagon 30"/>
          <p:cNvSpPr/>
          <p:nvPr/>
        </p:nvSpPr>
        <p:spPr>
          <a:xfrm>
            <a:off x="10332720" y="345186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Hexagon 31"/>
          <p:cNvSpPr/>
          <p:nvPr/>
        </p:nvSpPr>
        <p:spPr>
          <a:xfrm>
            <a:off x="10332720" y="415137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Hexagon 32"/>
          <p:cNvSpPr/>
          <p:nvPr/>
        </p:nvSpPr>
        <p:spPr>
          <a:xfrm>
            <a:off x="10332720" y="485089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Hexagon 33"/>
          <p:cNvSpPr/>
          <p:nvPr/>
        </p:nvSpPr>
        <p:spPr>
          <a:xfrm>
            <a:off x="10881360" y="-45720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Hexagon 34"/>
          <p:cNvSpPr/>
          <p:nvPr/>
        </p:nvSpPr>
        <p:spPr>
          <a:xfrm>
            <a:off x="10881360" y="24231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Hexagon 35"/>
          <p:cNvSpPr/>
          <p:nvPr/>
        </p:nvSpPr>
        <p:spPr>
          <a:xfrm>
            <a:off x="10881360" y="94183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Hexagon 36"/>
          <p:cNvSpPr/>
          <p:nvPr/>
        </p:nvSpPr>
        <p:spPr>
          <a:xfrm>
            <a:off x="10881360" y="164134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Hexagon 37"/>
          <p:cNvSpPr/>
          <p:nvPr/>
        </p:nvSpPr>
        <p:spPr>
          <a:xfrm>
            <a:off x="10881360" y="234086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Hexagon 38"/>
          <p:cNvSpPr/>
          <p:nvPr/>
        </p:nvSpPr>
        <p:spPr>
          <a:xfrm>
            <a:off x="10881360" y="304037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Hexagon 39"/>
          <p:cNvSpPr/>
          <p:nvPr/>
        </p:nvSpPr>
        <p:spPr>
          <a:xfrm>
            <a:off x="10881360" y="37398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Hexagon 40"/>
          <p:cNvSpPr/>
          <p:nvPr/>
        </p:nvSpPr>
        <p:spPr>
          <a:xfrm>
            <a:off x="10881360" y="44394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1520" y="320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2A9D8F"/>
                </a:solidFill>
                <a:latin typeface="Calibri"/>
              </a:defRPr>
            </a:pPr>
            <a:r>
              <a:t>VISIBILITY &amp; ENGAGEMENT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31520" y="640080"/>
            <a:ext cx="731520" cy="381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7772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600" b="1">
                <a:solidFill>
                  <a:srgbClr val="2C3E50"/>
                </a:solidFill>
                <a:latin typeface="Calibri"/>
              </a:defRPr>
            </a:pPr>
            <a:r>
              <a:t>Continuity Analytics &amp; Patient Portal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4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31520" y="651052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546E7A"/>
                </a:solidFill>
                <a:latin typeface="Calibri"/>
              </a:defRPr>
            </a:pPr>
            <a:r>
              <a:t>Mr. Mayur More  |  Team Krishna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14800" y="6510528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0A4AE"/>
                </a:solidFill>
                <a:latin typeface="Calibri"/>
              </a:defRPr>
            </a:pPr>
            <a:r>
              <a:t>CancerCare 360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15600" y="651052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100" b="0">
                <a:solidFill>
                  <a:srgbClr val="90A4AE"/>
                </a:solidFill>
                <a:latin typeface="Calibri"/>
              </a:defRPr>
            </a:pPr>
            <a:r>
              <a:t>10 / 13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48640" y="1371600"/>
            <a:ext cx="539496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48640" y="1371600"/>
            <a:ext cx="5394960" cy="762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22960" y="155448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9D8F"/>
                </a:solidFill>
                <a:latin typeface="Calibri"/>
              </a:defRPr>
            </a:pPr>
            <a:r>
              <a:t>Continuity Analytics Dashboard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2960" y="2011680"/>
            <a:ext cx="4846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2C3E50"/>
                </a:solidFill>
                <a:latin typeface="Calibri"/>
              </a:defRPr>
            </a:pPr>
            <a:r>
              <a:t>Care Continuity Retention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2960" y="224028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Treatment completion vs dropout rates across all stages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2960" y="2578608"/>
            <a:ext cx="4846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2C3E50"/>
                </a:solidFill>
                <a:latin typeface="Calibri"/>
              </a:defRPr>
            </a:pPr>
            <a:r>
              <a:t>Follow-Up Stage Breakdown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2960" y="2807208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Patient counts across all 8 continuity stages with percentages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2960" y="3145536"/>
            <a:ext cx="4846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2C3E50"/>
                </a:solidFill>
                <a:latin typeface="Calibri"/>
              </a:defRPr>
            </a:pPr>
            <a:r>
              <a:t>Diagnostic TAT vs SLA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2960" y="3374136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Benchmark comparison for CT, MRI, PET, Biopsy with breach warnings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2960" y="3712464"/>
            <a:ext cx="4846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2C3E50"/>
                </a:solidFill>
                <a:latin typeface="Calibri"/>
              </a:defRPr>
            </a:pPr>
            <a:r>
              <a:t>Barrier Analytics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2960" y="3941064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Breakdown by category (Financial, Transport, etc.) with resolution rates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2960" y="4279392"/>
            <a:ext cx="4846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2C3E50"/>
                </a:solidFill>
                <a:latin typeface="Calibri"/>
              </a:defRPr>
            </a:pPr>
            <a:r>
              <a:t>Operational Bottlenecks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2960" y="4507992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Real-time hospital-side delay log (pathology backlog, bed scarcity)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22960" y="4846320"/>
            <a:ext cx="4846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2C3E50"/>
                </a:solidFill>
                <a:latin typeface="Calibri"/>
              </a:defRPr>
            </a:pPr>
            <a:r>
              <a:t>Practice Growth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2960" y="507492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Monthly new patient intake, referral network performance, NPS scores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22960" y="5413248"/>
            <a:ext cx="4846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2C3E50"/>
                </a:solidFill>
                <a:latin typeface="Calibri"/>
              </a:defRPr>
            </a:pPr>
            <a:r>
              <a:t>Report Generation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22960" y="5641848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Patient Census, Care Gaps Analysis, Investigation TAT exports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126480" y="1371600"/>
            <a:ext cx="539496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126480" y="1371600"/>
            <a:ext cx="5394960" cy="76200"/>
          </a:xfrm>
          <a:prstGeom prst="rect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155448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457B9D"/>
                </a:solidFill>
                <a:latin typeface="Calibri"/>
              </a:defRPr>
            </a:pPr>
            <a:r>
              <a:t>Patient Portal — CancerCare Companion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400800" y="1920240"/>
            <a:ext cx="4846320" cy="530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537960" y="1956816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457B9D"/>
                </a:solidFill>
                <a:latin typeface="Calibri"/>
              </a:defRPr>
            </a:pPr>
            <a:r>
              <a:t>My Care Home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537960" y="2157984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46E7A"/>
                </a:solidFill>
                <a:latin typeface="Calibri"/>
              </a:defRPr>
            </a:pPr>
            <a:r>
              <a:t>Personalised dashboard with treatment roadmap, 24/7 nurse triage helpline, and quick-action tiles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400800" y="2523744"/>
            <a:ext cx="4846320" cy="530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537960" y="2560320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457B9D"/>
                </a:solidFill>
                <a:latin typeface="Calibri"/>
              </a:defRPr>
            </a:pPr>
            <a:r>
              <a:t>CareCircles (Family Connect)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537960" y="2761488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46E7A"/>
                </a:solidFill>
                <a:latin typeface="Calibri"/>
              </a:defRPr>
            </a:pPr>
            <a:r>
              <a:t>Geo &amp; cancer-matched peer network: connects families in Karad/Satara to exchange dysphagia diets &amp; care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6400800" y="3127248"/>
            <a:ext cx="4846320" cy="530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537960" y="3163824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457B9D"/>
                </a:solidFill>
                <a:latin typeface="Calibri"/>
              </a:defRPr>
            </a:pPr>
            <a:r>
              <a:t>CareRelief (Aid &amp; Grants)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537960" y="33649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46E7A"/>
                </a:solidFill>
                <a:latin typeface="Calibri"/>
              </a:defRPr>
            </a:pPr>
            <a:r>
              <a:t>CMRF, PMNRF, Lalbaugcha Raja, Siddhivinayak, MJPJAY grants &amp; 1-click Treatment Cost Dossier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6400800" y="3730752"/>
            <a:ext cx="4846320" cy="530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537960" y="3767328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457B9D"/>
                </a:solidFill>
                <a:latin typeface="Calibri"/>
              </a:defRPr>
            </a:pPr>
            <a:r>
              <a:t>My Appointments &amp; Flow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537960" y="3968496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46E7A"/>
                </a:solidFill>
                <a:latin typeface="Calibri"/>
              </a:defRPr>
            </a:pPr>
            <a:r>
              <a:t>View upcoming appointments, request new bookings, reschedule inquiries with care coordinators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6400800" y="4334256"/>
            <a:ext cx="4846320" cy="530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537960" y="4370832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457B9D"/>
                </a:solidFill>
                <a:latin typeface="Calibri"/>
              </a:defRPr>
            </a:pPr>
            <a:r>
              <a:t>Treatment Roadmap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537960" y="4572000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46E7A"/>
                </a:solidFill>
                <a:latin typeface="Calibri"/>
              </a:defRPr>
            </a:pPr>
            <a:r>
              <a:t>Visual journey timeline (Completed / In Progress / Upcoming chemo and radiation milestones)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400800" y="4937760"/>
            <a:ext cx="4846320" cy="530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537960" y="4974336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457B9D"/>
                </a:solidFill>
                <a:latin typeface="Calibri"/>
              </a:defRPr>
            </a:pPr>
            <a:r>
              <a:t>My Reports &amp; Labs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537960" y="5175504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46E7A"/>
                </a:solidFill>
                <a:latin typeface="Calibri"/>
              </a:defRPr>
            </a:pPr>
            <a:r>
              <a:t>Secure digital medical records locker with clinician-verified downloads and ABHA sync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6400800" y="5541264"/>
            <a:ext cx="4846320" cy="530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537960" y="5577840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457B9D"/>
                </a:solidFill>
                <a:latin typeface="Calibri"/>
              </a:defRPr>
            </a:pPr>
            <a:r>
              <a:t>Patient Guides &amp; Education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537960" y="5779008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46E7A"/>
                </a:solidFill>
                <a:latin typeface="Calibri"/>
              </a:defRPr>
            </a:pPr>
            <a:r>
              <a:t>Multi-lingual library (English, Hindi, Marathi): nutrition, chemo side effects, financial rights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xagon 1"/>
          <p:cNvSpPr/>
          <p:nvPr/>
        </p:nvSpPr>
        <p:spPr>
          <a:xfrm>
            <a:off x="8686800" y="-45720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exagon 2"/>
          <p:cNvSpPr/>
          <p:nvPr/>
        </p:nvSpPr>
        <p:spPr>
          <a:xfrm>
            <a:off x="8686800" y="24231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xagon 3"/>
          <p:cNvSpPr/>
          <p:nvPr/>
        </p:nvSpPr>
        <p:spPr>
          <a:xfrm>
            <a:off x="8686800" y="94183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Hexagon 4"/>
          <p:cNvSpPr/>
          <p:nvPr/>
        </p:nvSpPr>
        <p:spPr>
          <a:xfrm>
            <a:off x="8686800" y="164134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Hexagon 5"/>
          <p:cNvSpPr/>
          <p:nvPr/>
        </p:nvSpPr>
        <p:spPr>
          <a:xfrm>
            <a:off x="8686800" y="234086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exagon 6"/>
          <p:cNvSpPr/>
          <p:nvPr/>
        </p:nvSpPr>
        <p:spPr>
          <a:xfrm>
            <a:off x="8686800" y="304037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exagon 7"/>
          <p:cNvSpPr/>
          <p:nvPr/>
        </p:nvSpPr>
        <p:spPr>
          <a:xfrm>
            <a:off x="8686800" y="37398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Hexagon 8"/>
          <p:cNvSpPr/>
          <p:nvPr/>
        </p:nvSpPr>
        <p:spPr>
          <a:xfrm>
            <a:off x="8686800" y="44394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Hexagon 9"/>
          <p:cNvSpPr/>
          <p:nvPr/>
        </p:nvSpPr>
        <p:spPr>
          <a:xfrm>
            <a:off x="9235440" y="-4571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exagon 10"/>
          <p:cNvSpPr/>
          <p:nvPr/>
        </p:nvSpPr>
        <p:spPr>
          <a:xfrm>
            <a:off x="9235440" y="6537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Hexagon 11"/>
          <p:cNvSpPr/>
          <p:nvPr/>
        </p:nvSpPr>
        <p:spPr>
          <a:xfrm>
            <a:off x="9235440" y="13533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Hexagon 12"/>
          <p:cNvSpPr/>
          <p:nvPr/>
        </p:nvSpPr>
        <p:spPr>
          <a:xfrm>
            <a:off x="9235440" y="205282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Hexagon 13"/>
          <p:cNvSpPr/>
          <p:nvPr/>
        </p:nvSpPr>
        <p:spPr>
          <a:xfrm>
            <a:off x="9235440" y="275234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Hexagon 14"/>
          <p:cNvSpPr/>
          <p:nvPr/>
        </p:nvSpPr>
        <p:spPr>
          <a:xfrm>
            <a:off x="9235440" y="345186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Hexagon 15"/>
          <p:cNvSpPr/>
          <p:nvPr/>
        </p:nvSpPr>
        <p:spPr>
          <a:xfrm>
            <a:off x="9235440" y="415137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Hexagon 16"/>
          <p:cNvSpPr/>
          <p:nvPr/>
        </p:nvSpPr>
        <p:spPr>
          <a:xfrm>
            <a:off x="9235440" y="485089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exagon 17"/>
          <p:cNvSpPr/>
          <p:nvPr/>
        </p:nvSpPr>
        <p:spPr>
          <a:xfrm>
            <a:off x="9784080" y="-45720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Hexagon 18"/>
          <p:cNvSpPr/>
          <p:nvPr/>
        </p:nvSpPr>
        <p:spPr>
          <a:xfrm>
            <a:off x="9784080" y="24231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Hexagon 19"/>
          <p:cNvSpPr/>
          <p:nvPr/>
        </p:nvSpPr>
        <p:spPr>
          <a:xfrm>
            <a:off x="9784080" y="94183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Hexagon 20"/>
          <p:cNvSpPr/>
          <p:nvPr/>
        </p:nvSpPr>
        <p:spPr>
          <a:xfrm>
            <a:off x="9784080" y="164134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Hexagon 21"/>
          <p:cNvSpPr/>
          <p:nvPr/>
        </p:nvSpPr>
        <p:spPr>
          <a:xfrm>
            <a:off x="9784080" y="234086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Hexagon 22"/>
          <p:cNvSpPr/>
          <p:nvPr/>
        </p:nvSpPr>
        <p:spPr>
          <a:xfrm>
            <a:off x="9784080" y="304037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Hexagon 23"/>
          <p:cNvSpPr/>
          <p:nvPr/>
        </p:nvSpPr>
        <p:spPr>
          <a:xfrm>
            <a:off x="9784080" y="37398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Hexagon 24"/>
          <p:cNvSpPr/>
          <p:nvPr/>
        </p:nvSpPr>
        <p:spPr>
          <a:xfrm>
            <a:off x="9784080" y="44394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Hexagon 25"/>
          <p:cNvSpPr/>
          <p:nvPr/>
        </p:nvSpPr>
        <p:spPr>
          <a:xfrm>
            <a:off x="10332720" y="-4571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Hexagon 26"/>
          <p:cNvSpPr/>
          <p:nvPr/>
        </p:nvSpPr>
        <p:spPr>
          <a:xfrm>
            <a:off x="10332720" y="6537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Hexagon 27"/>
          <p:cNvSpPr/>
          <p:nvPr/>
        </p:nvSpPr>
        <p:spPr>
          <a:xfrm>
            <a:off x="10332720" y="13533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Hexagon 28"/>
          <p:cNvSpPr/>
          <p:nvPr/>
        </p:nvSpPr>
        <p:spPr>
          <a:xfrm>
            <a:off x="10332720" y="205282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Hexagon 29"/>
          <p:cNvSpPr/>
          <p:nvPr/>
        </p:nvSpPr>
        <p:spPr>
          <a:xfrm>
            <a:off x="10332720" y="275234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Hexagon 30"/>
          <p:cNvSpPr/>
          <p:nvPr/>
        </p:nvSpPr>
        <p:spPr>
          <a:xfrm>
            <a:off x="10332720" y="345186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Hexagon 31"/>
          <p:cNvSpPr/>
          <p:nvPr/>
        </p:nvSpPr>
        <p:spPr>
          <a:xfrm>
            <a:off x="10332720" y="415137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Hexagon 32"/>
          <p:cNvSpPr/>
          <p:nvPr/>
        </p:nvSpPr>
        <p:spPr>
          <a:xfrm>
            <a:off x="10332720" y="485089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Hexagon 33"/>
          <p:cNvSpPr/>
          <p:nvPr/>
        </p:nvSpPr>
        <p:spPr>
          <a:xfrm>
            <a:off x="10881360" y="-45720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Hexagon 34"/>
          <p:cNvSpPr/>
          <p:nvPr/>
        </p:nvSpPr>
        <p:spPr>
          <a:xfrm>
            <a:off x="10881360" y="24231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Hexagon 35"/>
          <p:cNvSpPr/>
          <p:nvPr/>
        </p:nvSpPr>
        <p:spPr>
          <a:xfrm>
            <a:off x="10881360" y="94183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Hexagon 36"/>
          <p:cNvSpPr/>
          <p:nvPr/>
        </p:nvSpPr>
        <p:spPr>
          <a:xfrm>
            <a:off x="10881360" y="164134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Hexagon 37"/>
          <p:cNvSpPr/>
          <p:nvPr/>
        </p:nvSpPr>
        <p:spPr>
          <a:xfrm>
            <a:off x="10881360" y="234086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Hexagon 38"/>
          <p:cNvSpPr/>
          <p:nvPr/>
        </p:nvSpPr>
        <p:spPr>
          <a:xfrm>
            <a:off x="10881360" y="304037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Hexagon 39"/>
          <p:cNvSpPr/>
          <p:nvPr/>
        </p:nvSpPr>
        <p:spPr>
          <a:xfrm>
            <a:off x="10881360" y="37398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Hexagon 40"/>
          <p:cNvSpPr/>
          <p:nvPr/>
        </p:nvSpPr>
        <p:spPr>
          <a:xfrm>
            <a:off x="10881360" y="44394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1520" y="320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2A9D8F"/>
                </a:solidFill>
                <a:latin typeface="Calibri"/>
              </a:defRPr>
            </a:pPr>
            <a:r>
              <a:t>TECHNOLOGY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31520" y="640080"/>
            <a:ext cx="731520" cy="381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7772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600" b="1">
                <a:solidFill>
                  <a:srgbClr val="2C3E50"/>
                </a:solidFill>
                <a:latin typeface="Calibri"/>
              </a:defRPr>
            </a:pPr>
            <a:r>
              <a:t>Production-Grade Architecture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4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31520" y="651052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546E7A"/>
                </a:solidFill>
                <a:latin typeface="Calibri"/>
              </a:defRPr>
            </a:pPr>
            <a:r>
              <a:t>Mr. Mayur More  |  Team Krishna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14800" y="6510528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0A4AE"/>
                </a:solidFill>
                <a:latin typeface="Calibri"/>
              </a:defRPr>
            </a:pPr>
            <a:r>
              <a:t>CancerCare 360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15600" y="651052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100" b="0">
                <a:solidFill>
                  <a:srgbClr val="90A4AE"/>
                </a:solidFill>
                <a:latin typeface="Calibri"/>
              </a:defRPr>
            </a:pPr>
            <a:r>
              <a:t>11 / 13</a:t>
            </a:r>
          </a:p>
        </p:txBody>
      </p:sp>
      <p:pic>
        <p:nvPicPr>
          <p:cNvPr id="50" name="Picture 49" descr="tech_architecture_17897080401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188720"/>
            <a:ext cx="4572000" cy="4572000"/>
          </a:xfrm>
          <a:prstGeom prst="rect">
            <a:avLst/>
          </a:prstGeom>
        </p:spPr>
      </p:pic>
      <p:sp>
        <p:nvSpPr>
          <p:cNvPr id="51" name="Oval 50"/>
          <p:cNvSpPr/>
          <p:nvPr/>
        </p:nvSpPr>
        <p:spPr>
          <a:xfrm>
            <a:off x="731520" y="1444752"/>
            <a:ext cx="182880" cy="182880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51560" y="1353312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C3E50"/>
                </a:solidFill>
                <a:latin typeface="Calibri"/>
              </a:defRPr>
            </a:pPr>
            <a:r>
              <a:t>Frontend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51560" y="1609344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546E7A"/>
                </a:solidFill>
                <a:latin typeface="Calibri"/>
              </a:defRPr>
            </a:pPr>
            <a:r>
              <a:t>Next.js 14 (App Router) + TypeScript + Ant Design 5</a:t>
            </a:r>
          </a:p>
        </p:txBody>
      </p:sp>
      <p:sp>
        <p:nvSpPr>
          <p:cNvPr id="54" name="Oval 53"/>
          <p:cNvSpPr/>
          <p:nvPr/>
        </p:nvSpPr>
        <p:spPr>
          <a:xfrm>
            <a:off x="731520" y="2066544"/>
            <a:ext cx="182880" cy="182880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51560" y="1975104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C3E50"/>
                </a:solidFill>
                <a:latin typeface="Calibri"/>
              </a:defRPr>
            </a:pPr>
            <a:r>
              <a:t>Visualisation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51560" y="2231136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546E7A"/>
                </a:solidFill>
                <a:latin typeface="Calibri"/>
              </a:defRPr>
            </a:pPr>
            <a:r>
              <a:t>ECharts for dashboards, Day.js for temporal data</a:t>
            </a:r>
          </a:p>
        </p:txBody>
      </p:sp>
      <p:sp>
        <p:nvSpPr>
          <p:cNvPr id="57" name="Oval 56"/>
          <p:cNvSpPr/>
          <p:nvPr/>
        </p:nvSpPr>
        <p:spPr>
          <a:xfrm>
            <a:off x="731520" y="2688336"/>
            <a:ext cx="182880" cy="182880"/>
          </a:xfrm>
          <a:prstGeom prst="ellipse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51560" y="2596896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C3E50"/>
                </a:solidFill>
                <a:latin typeface="Calibri"/>
              </a:defRPr>
            </a:pPr>
            <a:r>
              <a:t>State Management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51560" y="2852928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546E7A"/>
                </a:solidFill>
                <a:latin typeface="Calibri"/>
              </a:defRPr>
            </a:pPr>
            <a:r>
              <a:t>Zustand (global state) + React Query (server sync)</a:t>
            </a:r>
          </a:p>
        </p:txBody>
      </p:sp>
      <p:sp>
        <p:nvSpPr>
          <p:cNvPr id="60" name="Oval 59"/>
          <p:cNvSpPr/>
          <p:nvPr/>
        </p:nvSpPr>
        <p:spPr>
          <a:xfrm>
            <a:off x="731520" y="3310128"/>
            <a:ext cx="182880" cy="182880"/>
          </a:xfrm>
          <a:prstGeom prst="ellipse">
            <a:avLst/>
          </a:prstGeom>
          <a:solidFill>
            <a:srgbClr val="8B6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51560" y="3218688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C3E50"/>
                </a:solidFill>
                <a:latin typeface="Calibri"/>
              </a:defRPr>
            </a:pPr>
            <a:r>
              <a:t>Backend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1560" y="347472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546E7A"/>
                </a:solidFill>
                <a:latin typeface="Calibri"/>
              </a:defRPr>
            </a:pPr>
            <a:r>
              <a:t>NestJS 10 — 32 modular TypeScript services</a:t>
            </a:r>
          </a:p>
        </p:txBody>
      </p:sp>
      <p:sp>
        <p:nvSpPr>
          <p:cNvPr id="63" name="Oval 62"/>
          <p:cNvSpPr/>
          <p:nvPr/>
        </p:nvSpPr>
        <p:spPr>
          <a:xfrm>
            <a:off x="731520" y="3931920"/>
            <a:ext cx="182880" cy="182880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51560" y="384048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C3E50"/>
                </a:solidFill>
                <a:latin typeface="Calibri"/>
              </a:defRPr>
            </a:pPr>
            <a:r>
              <a:t>ORM &amp; Database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51560" y="4096512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546E7A"/>
                </a:solidFill>
                <a:latin typeface="Calibri"/>
              </a:defRPr>
            </a:pPr>
            <a:r>
              <a:t>Prisma ORM + PostgreSQL (41 relational models)</a:t>
            </a:r>
          </a:p>
        </p:txBody>
      </p:sp>
      <p:sp>
        <p:nvSpPr>
          <p:cNvPr id="66" name="Oval 65"/>
          <p:cNvSpPr/>
          <p:nvPr/>
        </p:nvSpPr>
        <p:spPr>
          <a:xfrm>
            <a:off x="731520" y="4553712"/>
            <a:ext cx="182880" cy="182880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51560" y="4462272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C3E50"/>
                </a:solidFill>
                <a:latin typeface="Calibri"/>
              </a:defRPr>
            </a:pPr>
            <a:r>
              <a:t>Authentication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51560" y="4718304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546E7A"/>
                </a:solidFill>
                <a:latin typeface="Calibri"/>
              </a:defRPr>
            </a:pPr>
            <a:r>
              <a:t>JWT + Passport.js with RBAC (5 roles)</a:t>
            </a:r>
          </a:p>
        </p:txBody>
      </p:sp>
      <p:sp>
        <p:nvSpPr>
          <p:cNvPr id="69" name="Oval 68"/>
          <p:cNvSpPr/>
          <p:nvPr/>
        </p:nvSpPr>
        <p:spPr>
          <a:xfrm>
            <a:off x="731520" y="5175504"/>
            <a:ext cx="182880" cy="182880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51560" y="5084064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C3E50"/>
                </a:solidFill>
                <a:latin typeface="Calibri"/>
              </a:defRPr>
            </a:pPr>
            <a:r>
              <a:t>AI Layer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51560" y="5340096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546E7A"/>
                </a:solidFill>
                <a:latin typeface="Calibri"/>
              </a:defRPr>
            </a:pPr>
            <a:r>
              <a:t>Section 30 governed clinical decision support</a:t>
            </a:r>
          </a:p>
        </p:txBody>
      </p:sp>
      <p:sp>
        <p:nvSpPr>
          <p:cNvPr id="72" name="Oval 71"/>
          <p:cNvSpPr/>
          <p:nvPr/>
        </p:nvSpPr>
        <p:spPr>
          <a:xfrm>
            <a:off x="731520" y="5797296"/>
            <a:ext cx="182880" cy="182880"/>
          </a:xfrm>
          <a:prstGeom prst="ellipse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51560" y="5705856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C3E50"/>
                </a:solidFill>
                <a:latin typeface="Calibri"/>
              </a:defRPr>
            </a:pPr>
            <a:r>
              <a:t>Compliance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51560" y="5961888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546E7A"/>
                </a:solidFill>
                <a:latin typeface="Calibri"/>
              </a:defRPr>
            </a:pPr>
            <a:r>
              <a:t>DPDP Act 2023, FHIR R4, ABDM/ABHA ready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xagon 1"/>
          <p:cNvSpPr/>
          <p:nvPr/>
        </p:nvSpPr>
        <p:spPr>
          <a:xfrm>
            <a:off x="8686800" y="-45720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exagon 2"/>
          <p:cNvSpPr/>
          <p:nvPr/>
        </p:nvSpPr>
        <p:spPr>
          <a:xfrm>
            <a:off x="8686800" y="24231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xagon 3"/>
          <p:cNvSpPr/>
          <p:nvPr/>
        </p:nvSpPr>
        <p:spPr>
          <a:xfrm>
            <a:off x="8686800" y="94183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Hexagon 4"/>
          <p:cNvSpPr/>
          <p:nvPr/>
        </p:nvSpPr>
        <p:spPr>
          <a:xfrm>
            <a:off x="8686800" y="164134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Hexagon 5"/>
          <p:cNvSpPr/>
          <p:nvPr/>
        </p:nvSpPr>
        <p:spPr>
          <a:xfrm>
            <a:off x="8686800" y="234086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exagon 6"/>
          <p:cNvSpPr/>
          <p:nvPr/>
        </p:nvSpPr>
        <p:spPr>
          <a:xfrm>
            <a:off x="8686800" y="304037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exagon 7"/>
          <p:cNvSpPr/>
          <p:nvPr/>
        </p:nvSpPr>
        <p:spPr>
          <a:xfrm>
            <a:off x="8686800" y="37398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Hexagon 8"/>
          <p:cNvSpPr/>
          <p:nvPr/>
        </p:nvSpPr>
        <p:spPr>
          <a:xfrm>
            <a:off x="8686800" y="44394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Hexagon 9"/>
          <p:cNvSpPr/>
          <p:nvPr/>
        </p:nvSpPr>
        <p:spPr>
          <a:xfrm>
            <a:off x="9235440" y="-4571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exagon 10"/>
          <p:cNvSpPr/>
          <p:nvPr/>
        </p:nvSpPr>
        <p:spPr>
          <a:xfrm>
            <a:off x="9235440" y="6537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Hexagon 11"/>
          <p:cNvSpPr/>
          <p:nvPr/>
        </p:nvSpPr>
        <p:spPr>
          <a:xfrm>
            <a:off x="9235440" y="13533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Hexagon 12"/>
          <p:cNvSpPr/>
          <p:nvPr/>
        </p:nvSpPr>
        <p:spPr>
          <a:xfrm>
            <a:off x="9235440" y="205282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Hexagon 13"/>
          <p:cNvSpPr/>
          <p:nvPr/>
        </p:nvSpPr>
        <p:spPr>
          <a:xfrm>
            <a:off x="9235440" y="275234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Hexagon 14"/>
          <p:cNvSpPr/>
          <p:nvPr/>
        </p:nvSpPr>
        <p:spPr>
          <a:xfrm>
            <a:off x="9235440" y="345186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Hexagon 15"/>
          <p:cNvSpPr/>
          <p:nvPr/>
        </p:nvSpPr>
        <p:spPr>
          <a:xfrm>
            <a:off x="9235440" y="415137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Hexagon 16"/>
          <p:cNvSpPr/>
          <p:nvPr/>
        </p:nvSpPr>
        <p:spPr>
          <a:xfrm>
            <a:off x="9235440" y="485089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exagon 17"/>
          <p:cNvSpPr/>
          <p:nvPr/>
        </p:nvSpPr>
        <p:spPr>
          <a:xfrm>
            <a:off x="9784080" y="-45720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Hexagon 18"/>
          <p:cNvSpPr/>
          <p:nvPr/>
        </p:nvSpPr>
        <p:spPr>
          <a:xfrm>
            <a:off x="9784080" y="24231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Hexagon 19"/>
          <p:cNvSpPr/>
          <p:nvPr/>
        </p:nvSpPr>
        <p:spPr>
          <a:xfrm>
            <a:off x="9784080" y="94183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Hexagon 20"/>
          <p:cNvSpPr/>
          <p:nvPr/>
        </p:nvSpPr>
        <p:spPr>
          <a:xfrm>
            <a:off x="9784080" y="164134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Hexagon 21"/>
          <p:cNvSpPr/>
          <p:nvPr/>
        </p:nvSpPr>
        <p:spPr>
          <a:xfrm>
            <a:off x="9784080" y="234086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Hexagon 22"/>
          <p:cNvSpPr/>
          <p:nvPr/>
        </p:nvSpPr>
        <p:spPr>
          <a:xfrm>
            <a:off x="9784080" y="304037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Hexagon 23"/>
          <p:cNvSpPr/>
          <p:nvPr/>
        </p:nvSpPr>
        <p:spPr>
          <a:xfrm>
            <a:off x="9784080" y="37398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Hexagon 24"/>
          <p:cNvSpPr/>
          <p:nvPr/>
        </p:nvSpPr>
        <p:spPr>
          <a:xfrm>
            <a:off x="9784080" y="44394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Hexagon 25"/>
          <p:cNvSpPr/>
          <p:nvPr/>
        </p:nvSpPr>
        <p:spPr>
          <a:xfrm>
            <a:off x="10332720" y="-4571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Hexagon 26"/>
          <p:cNvSpPr/>
          <p:nvPr/>
        </p:nvSpPr>
        <p:spPr>
          <a:xfrm>
            <a:off x="10332720" y="6537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Hexagon 27"/>
          <p:cNvSpPr/>
          <p:nvPr/>
        </p:nvSpPr>
        <p:spPr>
          <a:xfrm>
            <a:off x="10332720" y="13533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Hexagon 28"/>
          <p:cNvSpPr/>
          <p:nvPr/>
        </p:nvSpPr>
        <p:spPr>
          <a:xfrm>
            <a:off x="10332720" y="205282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Hexagon 29"/>
          <p:cNvSpPr/>
          <p:nvPr/>
        </p:nvSpPr>
        <p:spPr>
          <a:xfrm>
            <a:off x="10332720" y="275234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Hexagon 30"/>
          <p:cNvSpPr/>
          <p:nvPr/>
        </p:nvSpPr>
        <p:spPr>
          <a:xfrm>
            <a:off x="10332720" y="345186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Hexagon 31"/>
          <p:cNvSpPr/>
          <p:nvPr/>
        </p:nvSpPr>
        <p:spPr>
          <a:xfrm>
            <a:off x="10332720" y="415137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Hexagon 32"/>
          <p:cNvSpPr/>
          <p:nvPr/>
        </p:nvSpPr>
        <p:spPr>
          <a:xfrm>
            <a:off x="10332720" y="485089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Hexagon 33"/>
          <p:cNvSpPr/>
          <p:nvPr/>
        </p:nvSpPr>
        <p:spPr>
          <a:xfrm>
            <a:off x="10881360" y="-45720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Hexagon 34"/>
          <p:cNvSpPr/>
          <p:nvPr/>
        </p:nvSpPr>
        <p:spPr>
          <a:xfrm>
            <a:off x="10881360" y="24231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Hexagon 35"/>
          <p:cNvSpPr/>
          <p:nvPr/>
        </p:nvSpPr>
        <p:spPr>
          <a:xfrm>
            <a:off x="10881360" y="94183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Hexagon 36"/>
          <p:cNvSpPr/>
          <p:nvPr/>
        </p:nvSpPr>
        <p:spPr>
          <a:xfrm>
            <a:off x="10881360" y="164134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Hexagon 37"/>
          <p:cNvSpPr/>
          <p:nvPr/>
        </p:nvSpPr>
        <p:spPr>
          <a:xfrm>
            <a:off x="10881360" y="234086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Hexagon 38"/>
          <p:cNvSpPr/>
          <p:nvPr/>
        </p:nvSpPr>
        <p:spPr>
          <a:xfrm>
            <a:off x="10881360" y="304037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Hexagon 39"/>
          <p:cNvSpPr/>
          <p:nvPr/>
        </p:nvSpPr>
        <p:spPr>
          <a:xfrm>
            <a:off x="10881360" y="37398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Hexagon 40"/>
          <p:cNvSpPr/>
          <p:nvPr/>
        </p:nvSpPr>
        <p:spPr>
          <a:xfrm>
            <a:off x="10881360" y="44394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1520" y="320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2A9D8F"/>
                </a:solidFill>
                <a:latin typeface="Calibri"/>
              </a:defRPr>
            </a:pPr>
            <a:r>
              <a:t>IMPACT &amp; VISION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31520" y="640080"/>
            <a:ext cx="731520" cy="381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7772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600" b="1">
                <a:solidFill>
                  <a:srgbClr val="2C3E50"/>
                </a:solidFill>
                <a:latin typeface="Calibri"/>
              </a:defRPr>
            </a:pPr>
            <a:r>
              <a:t>What CancerCare 360 Delivers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4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31520" y="651052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546E7A"/>
                </a:solidFill>
                <a:latin typeface="Calibri"/>
              </a:defRPr>
            </a:pPr>
            <a:r>
              <a:t>Mr. Mayur More  |  Team Krishna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14800" y="6510528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0A4AE"/>
                </a:solidFill>
                <a:latin typeface="Calibri"/>
              </a:defRPr>
            </a:pPr>
            <a:r>
              <a:t>CancerCare 360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15600" y="651052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100" b="0">
                <a:solidFill>
                  <a:srgbClr val="90A4AE"/>
                </a:solidFill>
                <a:latin typeface="Calibri"/>
              </a:defRPr>
            </a:pPr>
            <a:r>
              <a:t>12 / 13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57200" y="1371600"/>
            <a:ext cx="269748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57200" y="1371600"/>
            <a:ext cx="2697480" cy="762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8640" y="1554480"/>
            <a:ext cx="2514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9D8F"/>
                </a:solidFill>
                <a:latin typeface="Calibri"/>
              </a:defRPr>
            </a:pPr>
            <a:r>
              <a:t>Zero Patients Lost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8640" y="1828800"/>
            <a:ext cx="2514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9D8F"/>
                </a:solidFill>
                <a:latin typeface="Calibri"/>
              </a:defRPr>
            </a:pPr>
            <a:r>
              <a:t>to Follow-Up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8640" y="2194560"/>
            <a:ext cx="2514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9-scenario automated detection + closed-loop recovery ensures every patient stays on their treatment path.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337560" y="1371600"/>
            <a:ext cx="269748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337560" y="1371600"/>
            <a:ext cx="2697480" cy="762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429000" y="1554480"/>
            <a:ext cx="2514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F4A261"/>
                </a:solidFill>
                <a:latin typeface="Calibri"/>
              </a:defRPr>
            </a:pPr>
            <a:r>
              <a:t>Real-Time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429000" y="1828800"/>
            <a:ext cx="2514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F4A261"/>
                </a:solidFill>
                <a:latin typeface="Calibri"/>
              </a:defRPr>
            </a:pPr>
            <a:r>
              <a:t>SLA Monitoring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429000" y="2194560"/>
            <a:ext cx="2514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Investigation turnaround tracked from 1-hour CBC to 14-day NGS. Breaches flagged instantly.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217920" y="1371600"/>
            <a:ext cx="269748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217920" y="1371600"/>
            <a:ext cx="2697480" cy="76200"/>
          </a:xfrm>
          <a:prstGeom prst="rect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09360" y="1554480"/>
            <a:ext cx="2514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457B9D"/>
                </a:solidFill>
                <a:latin typeface="Calibri"/>
              </a:defRPr>
            </a:pPr>
            <a:r>
              <a:t>Unified Care Team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09360" y="1828800"/>
            <a:ext cx="2514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457B9D"/>
                </a:solidFill>
                <a:latin typeface="Calibri"/>
              </a:defRPr>
            </a:pPr>
            <a:r>
              <a:t>Collaboration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9360" y="2194560"/>
            <a:ext cx="2514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Oncologists, coordinators, navigators share one longitudinal 360° view — eliminating silos.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098280" y="1371600"/>
            <a:ext cx="269748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098280" y="1371600"/>
            <a:ext cx="2697480" cy="76200"/>
          </a:xfrm>
          <a:prstGeom prst="rect">
            <a:avLst/>
          </a:prstGeom>
          <a:solidFill>
            <a:srgbClr val="8B6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189720" y="1554480"/>
            <a:ext cx="2514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8B6BC4"/>
                </a:solidFill>
                <a:latin typeface="Calibri"/>
              </a:defRPr>
            </a:pPr>
            <a:r>
              <a:t>Timely, Coordinated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189720" y="1828800"/>
            <a:ext cx="2514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8B6BC4"/>
                </a:solidFill>
                <a:latin typeface="Calibri"/>
              </a:defRPr>
            </a:pPr>
            <a:r>
              <a:t>Follow-Up at Scale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189720" y="2194560"/>
            <a:ext cx="2514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Automated workflows replace manual tracking. Scales from 100 to 10,000+ patients.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57200" y="3703320"/>
            <a:ext cx="11247120" cy="127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57200" y="384048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C3E50"/>
                </a:solidFill>
                <a:latin typeface="Calibri"/>
              </a:defRPr>
            </a:pPr>
            <a:r>
              <a:t>Platform by the Numbers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828800" y="42976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400" b="1">
                <a:solidFill>
                  <a:srgbClr val="2A9D8F"/>
                </a:solidFill>
                <a:latin typeface="Calibri"/>
              </a:defRPr>
            </a:pPr>
            <a:r>
              <a:t>34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28800" y="461772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00" b="0">
                <a:solidFill>
                  <a:srgbClr val="546E7A"/>
                </a:solidFill>
                <a:latin typeface="Calibri"/>
              </a:defRPr>
            </a:pPr>
            <a:r>
              <a:t>Backend Modules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114800" y="42976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400" b="1">
                <a:solidFill>
                  <a:srgbClr val="457B9D"/>
                </a:solidFill>
                <a:latin typeface="Calibri"/>
              </a:defRPr>
            </a:pPr>
            <a:r>
              <a:t>51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114800" y="461772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00" b="0">
                <a:solidFill>
                  <a:srgbClr val="546E7A"/>
                </a:solidFill>
                <a:latin typeface="Calibri"/>
              </a:defRPr>
            </a:pPr>
            <a:r>
              <a:t>Database Models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400800" y="42976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400" b="1">
                <a:solidFill>
                  <a:srgbClr val="F4A261"/>
                </a:solidFill>
                <a:latin typeface="Calibri"/>
              </a:defRPr>
            </a:pPr>
            <a:r>
              <a:t>25+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400800" y="461772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00" b="0">
                <a:solidFill>
                  <a:srgbClr val="546E7A"/>
                </a:solidFill>
                <a:latin typeface="Calibri"/>
              </a:defRPr>
            </a:pPr>
            <a:r>
              <a:t>Staff Pages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686800" y="42976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400" b="1">
                <a:solidFill>
                  <a:srgbClr val="8B6BC4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686800" y="461772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00" b="0">
                <a:solidFill>
                  <a:srgbClr val="546E7A"/>
                </a:solidFill>
                <a:latin typeface="Calibri"/>
              </a:defRPr>
            </a:pPr>
            <a:r>
              <a:t>Portal Pages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828800" y="49377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400" b="1">
                <a:solidFill>
                  <a:srgbClr val="E76F51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828800" y="525780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00" b="0">
                <a:solidFill>
                  <a:srgbClr val="546E7A"/>
                </a:solidFill>
                <a:latin typeface="Calibri"/>
              </a:defRPr>
            </a:pPr>
            <a:r>
              <a:t>Care Gap Scenarios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114800" y="49377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400" b="1">
                <a:solidFill>
                  <a:srgbClr val="2A9D8F"/>
                </a:solidFill>
                <a:latin typeface="Calibri"/>
              </a:defRPr>
            </a:pPr>
            <a:r>
              <a:t>12+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114800" y="525780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00" b="0">
                <a:solidFill>
                  <a:srgbClr val="546E7A"/>
                </a:solidFill>
                <a:latin typeface="Calibri"/>
              </a:defRPr>
            </a:pPr>
            <a:r>
              <a:t>Govt &amp; Trust Funds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400800" y="49377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400" b="1">
                <a:solidFill>
                  <a:srgbClr val="457B9D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400800" y="525780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00" b="0">
                <a:solidFill>
                  <a:srgbClr val="546E7A"/>
                </a:solidFill>
                <a:latin typeface="Calibri"/>
              </a:defRPr>
            </a:pPr>
            <a:r>
              <a:t>Languages Supported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686800" y="49377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400" b="1">
                <a:solidFill>
                  <a:srgbClr val="F4A261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686800" y="525780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00" b="0">
                <a:solidFill>
                  <a:srgbClr val="546E7A"/>
                </a:solidFill>
                <a:latin typeface="Calibri"/>
              </a:defRPr>
            </a:pPr>
            <a:r>
              <a:t>User Roles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xagon 1"/>
          <p:cNvSpPr/>
          <p:nvPr/>
        </p:nvSpPr>
        <p:spPr>
          <a:xfrm>
            <a:off x="8686800" y="-45720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exagon 2"/>
          <p:cNvSpPr/>
          <p:nvPr/>
        </p:nvSpPr>
        <p:spPr>
          <a:xfrm>
            <a:off x="8686800" y="24231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xagon 3"/>
          <p:cNvSpPr/>
          <p:nvPr/>
        </p:nvSpPr>
        <p:spPr>
          <a:xfrm>
            <a:off x="8686800" y="94183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Hexagon 4"/>
          <p:cNvSpPr/>
          <p:nvPr/>
        </p:nvSpPr>
        <p:spPr>
          <a:xfrm>
            <a:off x="8686800" y="164134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Hexagon 5"/>
          <p:cNvSpPr/>
          <p:nvPr/>
        </p:nvSpPr>
        <p:spPr>
          <a:xfrm>
            <a:off x="8686800" y="234086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exagon 6"/>
          <p:cNvSpPr/>
          <p:nvPr/>
        </p:nvSpPr>
        <p:spPr>
          <a:xfrm>
            <a:off x="8686800" y="304037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exagon 7"/>
          <p:cNvSpPr/>
          <p:nvPr/>
        </p:nvSpPr>
        <p:spPr>
          <a:xfrm>
            <a:off x="8686800" y="37398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Hexagon 8"/>
          <p:cNvSpPr/>
          <p:nvPr/>
        </p:nvSpPr>
        <p:spPr>
          <a:xfrm>
            <a:off x="8686800" y="44394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Hexagon 9"/>
          <p:cNvSpPr/>
          <p:nvPr/>
        </p:nvSpPr>
        <p:spPr>
          <a:xfrm>
            <a:off x="9235440" y="-4571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exagon 10"/>
          <p:cNvSpPr/>
          <p:nvPr/>
        </p:nvSpPr>
        <p:spPr>
          <a:xfrm>
            <a:off x="9235440" y="6537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Hexagon 11"/>
          <p:cNvSpPr/>
          <p:nvPr/>
        </p:nvSpPr>
        <p:spPr>
          <a:xfrm>
            <a:off x="9235440" y="13533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Hexagon 12"/>
          <p:cNvSpPr/>
          <p:nvPr/>
        </p:nvSpPr>
        <p:spPr>
          <a:xfrm>
            <a:off x="9235440" y="205282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Hexagon 13"/>
          <p:cNvSpPr/>
          <p:nvPr/>
        </p:nvSpPr>
        <p:spPr>
          <a:xfrm>
            <a:off x="9235440" y="275234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Hexagon 14"/>
          <p:cNvSpPr/>
          <p:nvPr/>
        </p:nvSpPr>
        <p:spPr>
          <a:xfrm>
            <a:off x="9235440" y="345186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Hexagon 15"/>
          <p:cNvSpPr/>
          <p:nvPr/>
        </p:nvSpPr>
        <p:spPr>
          <a:xfrm>
            <a:off x="9235440" y="415137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Hexagon 16"/>
          <p:cNvSpPr/>
          <p:nvPr/>
        </p:nvSpPr>
        <p:spPr>
          <a:xfrm>
            <a:off x="9235440" y="485089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exagon 17"/>
          <p:cNvSpPr/>
          <p:nvPr/>
        </p:nvSpPr>
        <p:spPr>
          <a:xfrm>
            <a:off x="9784080" y="-45720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Hexagon 18"/>
          <p:cNvSpPr/>
          <p:nvPr/>
        </p:nvSpPr>
        <p:spPr>
          <a:xfrm>
            <a:off x="9784080" y="24231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Hexagon 19"/>
          <p:cNvSpPr/>
          <p:nvPr/>
        </p:nvSpPr>
        <p:spPr>
          <a:xfrm>
            <a:off x="9784080" y="94183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Hexagon 20"/>
          <p:cNvSpPr/>
          <p:nvPr/>
        </p:nvSpPr>
        <p:spPr>
          <a:xfrm>
            <a:off x="9784080" y="164134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Hexagon 21"/>
          <p:cNvSpPr/>
          <p:nvPr/>
        </p:nvSpPr>
        <p:spPr>
          <a:xfrm>
            <a:off x="9784080" y="234086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Hexagon 22"/>
          <p:cNvSpPr/>
          <p:nvPr/>
        </p:nvSpPr>
        <p:spPr>
          <a:xfrm>
            <a:off x="9784080" y="304037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Hexagon 23"/>
          <p:cNvSpPr/>
          <p:nvPr/>
        </p:nvSpPr>
        <p:spPr>
          <a:xfrm>
            <a:off x="9784080" y="37398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Hexagon 24"/>
          <p:cNvSpPr/>
          <p:nvPr/>
        </p:nvSpPr>
        <p:spPr>
          <a:xfrm>
            <a:off x="9784080" y="44394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Hexagon 25"/>
          <p:cNvSpPr/>
          <p:nvPr/>
        </p:nvSpPr>
        <p:spPr>
          <a:xfrm>
            <a:off x="10332720" y="-4571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Hexagon 26"/>
          <p:cNvSpPr/>
          <p:nvPr/>
        </p:nvSpPr>
        <p:spPr>
          <a:xfrm>
            <a:off x="10332720" y="6537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Hexagon 27"/>
          <p:cNvSpPr/>
          <p:nvPr/>
        </p:nvSpPr>
        <p:spPr>
          <a:xfrm>
            <a:off x="10332720" y="13533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Hexagon 28"/>
          <p:cNvSpPr/>
          <p:nvPr/>
        </p:nvSpPr>
        <p:spPr>
          <a:xfrm>
            <a:off x="10332720" y="205282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Hexagon 29"/>
          <p:cNvSpPr/>
          <p:nvPr/>
        </p:nvSpPr>
        <p:spPr>
          <a:xfrm>
            <a:off x="10332720" y="275234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Hexagon 30"/>
          <p:cNvSpPr/>
          <p:nvPr/>
        </p:nvSpPr>
        <p:spPr>
          <a:xfrm>
            <a:off x="10332720" y="345186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Hexagon 31"/>
          <p:cNvSpPr/>
          <p:nvPr/>
        </p:nvSpPr>
        <p:spPr>
          <a:xfrm>
            <a:off x="10332720" y="415137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Hexagon 32"/>
          <p:cNvSpPr/>
          <p:nvPr/>
        </p:nvSpPr>
        <p:spPr>
          <a:xfrm>
            <a:off x="10332720" y="485089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Hexagon 33"/>
          <p:cNvSpPr/>
          <p:nvPr/>
        </p:nvSpPr>
        <p:spPr>
          <a:xfrm>
            <a:off x="10881360" y="-457200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Hexagon 34"/>
          <p:cNvSpPr/>
          <p:nvPr/>
        </p:nvSpPr>
        <p:spPr>
          <a:xfrm>
            <a:off x="10881360" y="24231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Hexagon 35"/>
          <p:cNvSpPr/>
          <p:nvPr/>
        </p:nvSpPr>
        <p:spPr>
          <a:xfrm>
            <a:off x="10881360" y="94183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Hexagon 36"/>
          <p:cNvSpPr/>
          <p:nvPr/>
        </p:nvSpPr>
        <p:spPr>
          <a:xfrm>
            <a:off x="10881360" y="1641348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Hexagon 37"/>
          <p:cNvSpPr/>
          <p:nvPr/>
        </p:nvSpPr>
        <p:spPr>
          <a:xfrm>
            <a:off x="10881360" y="2340864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Hexagon 38"/>
          <p:cNvSpPr/>
          <p:nvPr/>
        </p:nvSpPr>
        <p:spPr>
          <a:xfrm>
            <a:off x="10881360" y="3040379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Hexagon 39"/>
          <p:cNvSpPr/>
          <p:nvPr/>
        </p:nvSpPr>
        <p:spPr>
          <a:xfrm>
            <a:off x="10881360" y="3739896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Hexagon 40"/>
          <p:cNvSpPr/>
          <p:nvPr/>
        </p:nvSpPr>
        <p:spPr>
          <a:xfrm>
            <a:off x="10881360" y="4439412"/>
            <a:ext cx="731520" cy="822960"/>
          </a:xfrm>
          <a:prstGeom prst="hexagon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gap_detection_17897080286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371600"/>
            <a:ext cx="4114800" cy="411480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371600" y="22860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200" b="1">
                <a:solidFill>
                  <a:srgbClr val="2A9D8F"/>
                </a:solidFill>
                <a:latin typeface="Calibri"/>
              </a:defRPr>
            </a:pPr>
            <a:r>
              <a:t>"Because no cancer patient should fall through the cracks."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71600" y="3657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600" b="1">
                <a:solidFill>
                  <a:srgbClr val="2C3E50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371600" y="42976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546E7A"/>
                </a:solidFill>
                <a:latin typeface="Calibri"/>
              </a:defRPr>
            </a:pPr>
            <a:r>
              <a:t>Mr. Mayur More  |  Team Krishna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4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31520" y="651052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546E7A"/>
                </a:solidFill>
                <a:latin typeface="Calibri"/>
              </a:defRPr>
            </a:pPr>
            <a:r>
              <a:t>Mr. Mayur More  |  Team Krishna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114800" y="6510528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0A4AE"/>
                </a:solidFill>
                <a:latin typeface="Calibri"/>
              </a:defRPr>
            </a:pPr>
            <a:r>
              <a:t>CancerCare 360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515600" y="651052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100" b="0">
                <a:solidFill>
                  <a:srgbClr val="90A4AE"/>
                </a:solidFill>
                <a:latin typeface="Calibri"/>
              </a:defRPr>
            </a:pPr>
            <a: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